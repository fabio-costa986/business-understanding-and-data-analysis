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ore0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6" r:id="rId17"/>
    <p:sldId id="256" r:id="rId2"/>
    <p:sldId id="257" r:id="rId3"/>
    <p:sldId id="258" r:id="rId4"/>
    <p:sldId id="259" r:id="rId5"/>
    <p:sldId id="260" r:id="rId11"/>
    <p:sldId id="261" r:id="rId12"/>
    <p:sldId id="262" r:id="rId13"/>
    <p:sldId id="263" r:id="rId14"/>
    <p:sldId id="264" r:id="rId15"/>
    <p:sldId id="265" r:id="rId16"/>
    <p:sldId id="267" r:id="rId18"/>
  </p:sldIdLst>
  <p:sldSz cx="12192000" cy="6858000"/>
  <p:notesSz cx="6858000" cy="12192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8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9BF361D-903A-435D-8E80-3520D2AE61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Sugestão de fala: O e-commerce cresceu, mas o dado mais importante para abrir a discussão é que 83,1% da base tratada está na classe detratora. O ponto central é temporal: o NPS só aparece depois da jornada. Por isso, nossa pergunta é quais sinais operacionais permitem agir antes.</a:t>
            </a:r>
          </a:p>
          <a:p>
            <a:pPr indent="0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EDA - versao final.ipynb (base tratada: 1.829 detratores em 2.202 pedidos)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(NPS coletado após a jornada e necessidade de atuação proativa)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https://www.mckinsey.com/capabilities/tech-and-ai/our-insights/making-data-analytics-work-for-you-instead-of-the-other-way-around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https://www.uber.com/br/en/blog/analyzing-customer-user-experience/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9DA66F-2389-40C1-BD3A-CF833AAB2E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 EDA foi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organizada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torno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próprio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Tech Challenge.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intenção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é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chegar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decisões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onde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está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problema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priorizar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maior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impacto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deixar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terreno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preparado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para uma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etapa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preditiva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 EDA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foco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público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não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técnico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(Bloco 04 — EDA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estruturada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pelas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negócio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https://www.mckinsey.com/capabilities/growth-marketing-and-sales/our-insights/customer-journey-analytics-and-big-data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https://careersatdoordash.com/blog/data-scientists-technical-skill-business-impact/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7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9B31B3-182E-47FB-A524-BD4DD4D781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 base original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2.500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pedidos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variáveis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nenhum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valor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ausente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nenhuma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duplicidade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Ela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cobre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pedido,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logística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atendimento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satisfação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além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perfil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cliente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variável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alvo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é o NPS de 0 a 10,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posteriormente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classificado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detrator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neutro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promotor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usando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intervalos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no notebook.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(2.500 registros,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colunas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zero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ausentes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zero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duplicidades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contínua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das classes NPS)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dicionário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 base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nps_score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https://careersatdoordash.com/blog/data-at-doordash-transparent-ubiquitous-and-still-just-getting-started/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8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27FD33-12B6-4CED-8DDE-540029A2ED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Antes da EDA, a base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passou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validações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lógica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Foram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separados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298 registros únicos,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11,9%,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imputação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correção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suposição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 base final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ficou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com 2.202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pedidos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34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colunas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originais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15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derivadas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Esse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tratamento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torna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análise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rastreável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evita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esconder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inconsistências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(267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casos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com atraso &gt;= tempo total; 35 com desconto &gt; pedido; 298 registros únicos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quarentena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2.202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mantidos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shape final 2.202 x 34)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frete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&gt; valor do pedido mantido com flag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ser incomum, mas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logicamente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possível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https://www.mckinsey.com/capabilities/tech-and-ai/our-insights/making-data-analytics-work-for-you-instead-of-the-other-way-around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8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B01E52-FCB6-4ACE-9832-E2AFDE44AB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777240"/>
            <a:ext cx="5943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5C7E5"/>
                </a:solidFill>
                <a:latin typeface="Aptos"/>
              </a:rPr>
              <a:t>POS TECH  ·  TECH CHALLENGE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31720"/>
            <a:ext cx="7315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Aptos Display"/>
              </a:rPr>
              <a:t>NPS Preditivo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520440"/>
            <a:ext cx="6675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B0C6"/>
                </a:solidFill>
                <a:latin typeface="Aptos"/>
              </a:rPr>
              <a:t>Fatores operacionais que explicam a satisfação do cliente — e como agir antes de o NPS cair.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67512" y="4434840"/>
            <a:ext cx="664768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4645152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EQUIPE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901184"/>
            <a:ext cx="6766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0" i="0">
                <a:solidFill>
                  <a:srgbClr val="FFFFFF"/>
                </a:solidFill>
                <a:latin typeface="Aptos"/>
              </a:rPr>
              <a:t>Amanda Alves de Lima Santos  ·  Fábio da Silva Costa  ·  Gabriel Victor  ·  Vanessa Partala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75320" y="2331720"/>
            <a:ext cx="0" cy="237744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41080" y="237744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ESCOPO DA ANÁLISE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8" y="2670048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ptos Display"/>
              </a:rPr>
              <a:t>2.202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3401568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FB0C6"/>
                </a:solidFill>
                <a:latin typeface="Aptos"/>
              </a:rPr>
              <a:t>pedidos tratados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3767328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33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1080" y="3785615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F6A5AA"/>
                </a:solidFill>
                <a:latin typeface="Aptos"/>
              </a:rPr>
              <a:t>83,1% são detratores hoje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Case NPS Preditivo  ·  Business Understanding &amp; Data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1 · CONTEXTO DO PROBLEMA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crescimento não é o problema. Descobrir a insatisfação tarde demais é.</a:t>
            </a:r>
            <a:endParaRPr lang="pt-BR" sz="2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O NPS chega no fim da jornada. A análise busca identificar sinais operacionais antes desse momento.</a:t>
            </a:r>
            <a:endParaRPr lang="pt-BR" sz="12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58440" y="2331720"/>
            <a:ext cx="23313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49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83,1%</a:t>
            </a:r>
            <a:endParaRPr lang="pt-BR" sz="4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85800" y="3218760"/>
            <a:ext cx="242280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2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dos pedidos da base tratada</a:t>
            </a:r>
            <a:endParaRPr lang="pt-BR" sz="15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2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são detratores</a:t>
            </a:r>
            <a:endParaRPr lang="pt-BR" sz="15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685800" y="393192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4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1.829 de 2.202 pedidos analisados</a:t>
            </a:r>
            <a:endParaRPr lang="pt-BR" sz="104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85800" y="4297680"/>
            <a:ext cx="1535760" cy="292320"/>
          </a:xfrm>
          <a:prstGeom prst="roundRect">
            <a:avLst>
              <a:gd name="adj" fmla="val 50000"/>
            </a:avLst>
          </a:prstGeom>
          <a:solidFill>
            <a:srgbClr val="331A25"/>
          </a:solidFill>
          <a:ln w="12600">
            <a:solidFill>
              <a:srgbClr val="331A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758880" y="4316040"/>
            <a:ext cx="138960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noProof="0" dirty="0">
                <a:solidFill>
                  <a:srgbClr val="F6A5AA"/>
                </a:solidFill>
                <a:effectLst/>
                <a:uFillTx/>
                <a:latin typeface="Aptos"/>
                <a:ea typeface="Aptos"/>
              </a:rPr>
              <a:t>problema dominante</a:t>
            </a:r>
            <a:endParaRPr lang="pt-BR" sz="93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3529440" y="2249280"/>
            <a:ext cx="7991640" cy="2002320"/>
          </a:xfrm>
          <a:prstGeom prst="roundRect">
            <a:avLst>
              <a:gd name="adj" fmla="val 3653"/>
            </a:avLst>
          </a:prstGeom>
          <a:solidFill>
            <a:srgbClr val="0D1A2B"/>
          </a:solidFill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3822120" y="2523600"/>
            <a:ext cx="2057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spc="125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PERGUNTA NORTEADORA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3822120" y="2853000"/>
            <a:ext cx="705888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Por que alguns clientes se tornam promotores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enquanto outros viram detratores?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3822120" y="3694320"/>
            <a:ext cx="6309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2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E como antecipar o risco antes de o NPS ser medido?</a:t>
            </a:r>
            <a:endParaRPr lang="pt-BR" sz="14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3529440" y="4736520"/>
            <a:ext cx="1096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39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A JORNADA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3"/>
          <p:cNvSpPr/>
          <p:nvPr/>
        </p:nvSpPr>
        <p:spPr>
          <a:xfrm>
            <a:off x="3767040" y="5440680"/>
            <a:ext cx="6903720" cy="360"/>
          </a:xfrm>
          <a:prstGeom prst="line">
            <a:avLst/>
          </a:prstGeom>
          <a:ln w="2556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37947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5"/>
          <p:cNvSpPr/>
          <p:nvPr/>
        </p:nvSpPr>
        <p:spPr>
          <a:xfrm>
            <a:off x="3922920" y="5349240"/>
            <a:ext cx="182520" cy="155160"/>
          </a:xfrm>
          <a:prstGeom prst="rect">
            <a:avLst/>
          </a:prstGeom>
          <a:noFill/>
          <a:ln w="1764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6"/>
          <p:cNvSpPr/>
          <p:nvPr/>
        </p:nvSpPr>
        <p:spPr>
          <a:xfrm>
            <a:off x="3949920" y="5394960"/>
            <a:ext cx="128160" cy="360"/>
          </a:xfrm>
          <a:prstGeom prst="line">
            <a:avLst/>
          </a:prstGeom>
          <a:ln w="1260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36302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Pedido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8"/>
          <p:cNvSpPr/>
          <p:nvPr/>
        </p:nvSpPr>
        <p:spPr>
          <a:xfrm>
            <a:off x="348372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valor · itens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9"/>
          <p:cNvSpPr/>
          <p:nvPr/>
        </p:nvSpPr>
        <p:spPr>
          <a:xfrm>
            <a:off x="57423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20"/>
          <p:cNvSpPr/>
          <p:nvPr/>
        </p:nvSpPr>
        <p:spPr>
          <a:xfrm flipV="1">
            <a:off x="5861160" y="5376600"/>
            <a:ext cx="201240" cy="118800"/>
          </a:xfrm>
          <a:prstGeom prst="line">
            <a:avLst/>
          </a:prstGeom>
          <a:ln w="20160">
            <a:solidFill>
              <a:srgbClr val="87E5F2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1"/>
          <p:cNvSpPr/>
          <p:nvPr/>
        </p:nvSpPr>
        <p:spPr>
          <a:xfrm>
            <a:off x="5852160" y="5486400"/>
            <a:ext cx="45360" cy="45360"/>
          </a:xfrm>
          <a:prstGeom prst="ellipse">
            <a:avLst/>
          </a:prstGeom>
          <a:solidFill>
            <a:srgbClr val="87E5F2"/>
          </a:solidFill>
          <a:ln w="1260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2600" rIns="90000" bIns="-126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2"/>
          <p:cNvSpPr/>
          <p:nvPr/>
        </p:nvSpPr>
        <p:spPr>
          <a:xfrm>
            <a:off x="55778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Entrega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3"/>
          <p:cNvSpPr/>
          <p:nvPr/>
        </p:nvSpPr>
        <p:spPr>
          <a:xfrm>
            <a:off x="54316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prazo · atraso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4"/>
          <p:cNvSpPr/>
          <p:nvPr/>
        </p:nvSpPr>
        <p:spPr>
          <a:xfrm>
            <a:off x="76899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5"/>
          <p:cNvSpPr/>
          <p:nvPr/>
        </p:nvSpPr>
        <p:spPr>
          <a:xfrm>
            <a:off x="7799760" y="5340240"/>
            <a:ext cx="219240" cy="155160"/>
          </a:xfrm>
          <a:prstGeom prst="roundRect">
            <a:avLst>
              <a:gd name="adj" fmla="val 23529"/>
            </a:avLst>
          </a:prstGeom>
          <a:noFill/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6"/>
          <p:cNvSpPr/>
          <p:nvPr/>
        </p:nvSpPr>
        <p:spPr>
          <a:xfrm flipH="1">
            <a:off x="7818120" y="5495400"/>
            <a:ext cx="36360" cy="54720"/>
          </a:xfrm>
          <a:prstGeom prst="line">
            <a:avLst/>
          </a:prstGeom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7"/>
          <p:cNvSpPr/>
          <p:nvPr/>
        </p:nvSpPr>
        <p:spPr>
          <a:xfrm>
            <a:off x="75254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Atendimento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8"/>
          <p:cNvSpPr/>
          <p:nvPr/>
        </p:nvSpPr>
        <p:spPr>
          <a:xfrm>
            <a:off x="73792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contatos · reclamações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9"/>
          <p:cNvSpPr/>
          <p:nvPr/>
        </p:nvSpPr>
        <p:spPr>
          <a:xfrm>
            <a:off x="963792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0"/>
          <p:cNvSpPr/>
          <p:nvPr/>
        </p:nvSpPr>
        <p:spPr>
          <a:xfrm>
            <a:off x="9692640" y="5266800"/>
            <a:ext cx="328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9</a:t>
            </a:r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31"/>
          <p:cNvSpPr/>
          <p:nvPr/>
        </p:nvSpPr>
        <p:spPr>
          <a:xfrm>
            <a:off x="94730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NPS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2"/>
          <p:cNvSpPr/>
          <p:nvPr/>
        </p:nvSpPr>
        <p:spPr>
          <a:xfrm>
            <a:off x="93268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medido depois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3"/>
          <p:cNvSpPr/>
          <p:nvPr/>
        </p:nvSpPr>
        <p:spPr>
          <a:xfrm>
            <a:off x="9875520" y="4928400"/>
            <a:ext cx="360" cy="219600"/>
          </a:xfrm>
          <a:prstGeom prst="line">
            <a:avLst/>
          </a:prstGeom>
          <a:ln w="25560">
            <a:solidFill>
              <a:srgbClr val="EE5A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34"/>
          <p:cNvSpPr/>
          <p:nvPr/>
        </p:nvSpPr>
        <p:spPr>
          <a:xfrm>
            <a:off x="9162360" y="4663440"/>
            <a:ext cx="18741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20" b="1" u="none" strike="noStrike" noProof="0" dirty="0">
                <a:solidFill>
                  <a:srgbClr val="EE5A62"/>
                </a:solidFill>
                <a:effectLst/>
                <a:uFillTx/>
                <a:latin typeface="Aptos"/>
                <a:ea typeface="Aptos"/>
              </a:rPr>
              <a:t>janela de ação já passou</a:t>
            </a:r>
            <a:endParaRPr lang="pt-BR" sz="9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35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36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01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1 · O QUE ESTAMOS RESPONDENDO</a:t>
            </a:r>
            <a:endParaRPr lang="pt-BR" sz="9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Quatro decisões de negócio estruturam toda a análise.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Em vez de começar pela técnica, começamos pelas perguntas que uma liderança precisa responder.</a:t>
            </a:r>
            <a:endParaRPr lang="pt-BR" sz="12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1051560" y="2331720"/>
            <a:ext cx="360" cy="360"/>
          </a:xfrm>
          <a:prstGeom prst="line">
            <a:avLst/>
          </a:prstGeom>
          <a:ln w="1908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4"/>
          <p:cNvSpPr/>
          <p:nvPr/>
        </p:nvSpPr>
        <p:spPr>
          <a:xfrm>
            <a:off x="1078920" y="2267640"/>
            <a:ext cx="360" cy="3063240"/>
          </a:xfrm>
          <a:prstGeom prst="line">
            <a:avLst/>
          </a:prstGeom>
          <a:ln w="19080">
            <a:solidFill>
              <a:srgbClr val="C7D0D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5"/>
          <p:cNvSpPr/>
          <p:nvPr/>
        </p:nvSpPr>
        <p:spPr>
          <a:xfrm>
            <a:off x="831960" y="2203560"/>
            <a:ext cx="493560" cy="493560"/>
          </a:xfrm>
          <a:prstGeom prst="ellipse">
            <a:avLst/>
          </a:prstGeom>
          <a:solidFill>
            <a:srgbClr val="25C7E5"/>
          </a:solidFill>
          <a:ln w="1656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831960" y="229500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091220"/>
                </a:solidFill>
                <a:effectLst/>
                <a:uFillTx/>
                <a:latin typeface="Aptos"/>
                <a:ea typeface="Aptos"/>
              </a:rPr>
              <a:t>01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7"/>
          <p:cNvSpPr/>
          <p:nvPr/>
        </p:nvSpPr>
        <p:spPr>
          <a:xfrm>
            <a:off x="1572840" y="212148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Quais fatores são críticos para a satisfação?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1572840" y="248724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Onde a experiência realmente ganha ou perde valor.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831960" y="303588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0"/>
          <p:cNvSpPr/>
          <p:nvPr/>
        </p:nvSpPr>
        <p:spPr>
          <a:xfrm>
            <a:off x="831960" y="312732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02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1572840" y="295344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O que mais gera detratores?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1572840" y="331920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Quais sinais operacionais merecem prioridade.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3"/>
          <p:cNvSpPr/>
          <p:nvPr/>
        </p:nvSpPr>
        <p:spPr>
          <a:xfrm>
            <a:off x="831960" y="386784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831960" y="395928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03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1572840" y="378576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Existe um ponto de ruptura?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6"/>
          <p:cNvSpPr/>
          <p:nvPr/>
        </p:nvSpPr>
        <p:spPr>
          <a:xfrm>
            <a:off x="1572840" y="415152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Quando a experiência passa de risco para zona crítica.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7"/>
          <p:cNvSpPr/>
          <p:nvPr/>
        </p:nvSpPr>
        <p:spPr>
          <a:xfrm>
            <a:off x="831960" y="470016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8"/>
          <p:cNvSpPr/>
          <p:nvPr/>
        </p:nvSpPr>
        <p:spPr>
          <a:xfrm>
            <a:off x="831960" y="479160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04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1572840" y="461772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Que experiência tende a NPS alto?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1572840" y="498348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O que diferencia promotores de detratores.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1"/>
          <p:cNvSpPr/>
          <p:nvPr/>
        </p:nvSpPr>
        <p:spPr>
          <a:xfrm>
            <a:off x="7699320" y="2157840"/>
            <a:ext cx="3794400" cy="3364560"/>
          </a:xfrm>
          <a:prstGeom prst="roundRect">
            <a:avLst>
              <a:gd name="adj" fmla="val 1630"/>
            </a:avLst>
          </a:prstGeom>
          <a:solidFill>
            <a:srgbClr val="091220"/>
          </a:solidFill>
          <a:ln w="12600">
            <a:solidFill>
              <a:srgbClr val="0912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2"/>
          <p:cNvSpPr/>
          <p:nvPr/>
        </p:nvSpPr>
        <p:spPr>
          <a:xfrm>
            <a:off x="8010000" y="2487240"/>
            <a:ext cx="30171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16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O QUE ESSAS RESPOSTAS HABILITAM</a:t>
            </a:r>
            <a:endParaRPr lang="pt-BR" sz="939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3"/>
          <p:cNvSpPr/>
          <p:nvPr/>
        </p:nvSpPr>
        <p:spPr>
          <a:xfrm>
            <a:off x="8010000" y="294444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1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4"/>
          <p:cNvSpPr/>
          <p:nvPr/>
        </p:nvSpPr>
        <p:spPr>
          <a:xfrm>
            <a:off x="8430840" y="292608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Detectar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5"/>
          <p:cNvSpPr/>
          <p:nvPr/>
        </p:nvSpPr>
        <p:spPr>
          <a:xfrm>
            <a:off x="9528120" y="293508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onde a jornada começa a deteriorar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6"/>
          <p:cNvSpPr/>
          <p:nvPr/>
        </p:nvSpPr>
        <p:spPr>
          <a:xfrm>
            <a:off x="8010000" y="3447000"/>
            <a:ext cx="278892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7"/>
          <p:cNvSpPr/>
          <p:nvPr/>
        </p:nvSpPr>
        <p:spPr>
          <a:xfrm>
            <a:off x="8010000" y="369432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2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8"/>
          <p:cNvSpPr/>
          <p:nvPr/>
        </p:nvSpPr>
        <p:spPr>
          <a:xfrm>
            <a:off x="8430840" y="367596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Priorizar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9"/>
          <p:cNvSpPr/>
          <p:nvPr/>
        </p:nvSpPr>
        <p:spPr>
          <a:xfrm>
            <a:off x="9528120" y="368496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ações com maior impacto operacional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0"/>
          <p:cNvSpPr/>
          <p:nvPr/>
        </p:nvSpPr>
        <p:spPr>
          <a:xfrm>
            <a:off x="8010000" y="4196880"/>
            <a:ext cx="278892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1"/>
          <p:cNvSpPr/>
          <p:nvPr/>
        </p:nvSpPr>
        <p:spPr>
          <a:xfrm>
            <a:off x="8010000" y="444384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3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2"/>
          <p:cNvSpPr/>
          <p:nvPr/>
        </p:nvSpPr>
        <p:spPr>
          <a:xfrm>
            <a:off x="8430840" y="442584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Preparar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3"/>
          <p:cNvSpPr/>
          <p:nvPr/>
        </p:nvSpPr>
        <p:spPr>
          <a:xfrm>
            <a:off x="9528120" y="443484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a futura modelagem preditiva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4"/>
          <p:cNvSpPr/>
          <p:nvPr/>
        </p:nvSpPr>
        <p:spPr>
          <a:xfrm>
            <a:off x="8010000" y="5148000"/>
            <a:ext cx="28159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850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A lógica é simples: pergunta → evidência → decisão.</a:t>
            </a:r>
            <a:endParaRPr lang="pt-BR" sz="10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5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6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02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2 · DADOS</a:t>
            </a:r>
            <a:endParaRPr lang="pt-BR" sz="9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A base acompanha a experiência ponta a ponta — do pedido à satisfação.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2.500 pedidos e 19 variáveis originais, com cobertura completa na base bruta.</a:t>
            </a:r>
            <a:endParaRPr lang="pt-BR" sz="12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65844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4F7DF3"/>
                </a:solidFill>
                <a:effectLst/>
                <a:uFillTx/>
                <a:latin typeface="Aptos Display"/>
                <a:ea typeface="Aptos Display"/>
              </a:rPr>
              <a:t>2.500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65844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pedidos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5"/>
          <p:cNvSpPr/>
          <p:nvPr/>
        </p:nvSpPr>
        <p:spPr>
          <a:xfrm>
            <a:off x="207540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228600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5C7E5"/>
                </a:solidFill>
                <a:effectLst/>
                <a:uFillTx/>
                <a:latin typeface="Aptos Display"/>
                <a:ea typeface="Aptos Display"/>
              </a:rPr>
              <a:t>19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7"/>
          <p:cNvSpPr/>
          <p:nvPr/>
        </p:nvSpPr>
        <p:spPr>
          <a:xfrm>
            <a:off x="228600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variáveis originais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8"/>
          <p:cNvSpPr/>
          <p:nvPr/>
        </p:nvSpPr>
        <p:spPr>
          <a:xfrm>
            <a:off x="370332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402336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0"/>
          <p:cNvSpPr/>
          <p:nvPr/>
        </p:nvSpPr>
        <p:spPr>
          <a:xfrm>
            <a:off x="402336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valores ausentes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1"/>
          <p:cNvSpPr/>
          <p:nvPr/>
        </p:nvSpPr>
        <p:spPr>
          <a:xfrm>
            <a:off x="544068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568764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568764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duplicidades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4"/>
          <p:cNvSpPr/>
          <p:nvPr/>
        </p:nvSpPr>
        <p:spPr>
          <a:xfrm>
            <a:off x="7571160" y="2304360"/>
            <a:ext cx="2331360" cy="292320"/>
          </a:xfrm>
          <a:prstGeom prst="roundRect">
            <a:avLst>
              <a:gd name="adj" fmla="val 50000"/>
            </a:avLst>
          </a:prstGeom>
          <a:solidFill>
            <a:srgbClr val="EDF2FF"/>
          </a:solidFill>
          <a:ln w="12600">
            <a:solidFill>
              <a:srgbClr val="EDF2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7644240" y="2322720"/>
            <a:ext cx="218520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noProof="0" dirty="0">
                <a:solidFill>
                  <a:srgbClr val="4F7DF3"/>
                </a:solidFill>
                <a:effectLst/>
                <a:uFillTx/>
                <a:latin typeface="Aptos"/>
                <a:ea typeface="Aptos"/>
              </a:rPr>
              <a:t>unidade de análise: pedido</a:t>
            </a:r>
            <a:endParaRPr lang="pt-BR" sz="93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6"/>
          <p:cNvSpPr/>
          <p:nvPr/>
        </p:nvSpPr>
        <p:spPr>
          <a:xfrm>
            <a:off x="960120" y="3721320"/>
            <a:ext cx="9857160" cy="360"/>
          </a:xfrm>
          <a:prstGeom prst="line">
            <a:avLst/>
          </a:prstGeom>
          <a:ln w="28080">
            <a:solidFill>
              <a:srgbClr val="D6DE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80460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932760" y="3630240"/>
            <a:ext cx="182520" cy="155160"/>
          </a:xfrm>
          <a:prstGeom prst="rect">
            <a:avLst/>
          </a:prstGeom>
          <a:noFill/>
          <a:ln w="1764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960120" y="3675600"/>
            <a:ext cx="127800" cy="360"/>
          </a:xfrm>
          <a:prstGeom prst="line">
            <a:avLst/>
          </a:prstGeom>
          <a:ln w="1260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0"/>
          <p:cNvSpPr/>
          <p:nvPr/>
        </p:nvSpPr>
        <p:spPr>
          <a:xfrm>
            <a:off x="62172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PEDIDO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1"/>
          <p:cNvSpPr/>
          <p:nvPr/>
        </p:nvSpPr>
        <p:spPr>
          <a:xfrm>
            <a:off x="40248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valor · itens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desconto · parcelas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2"/>
          <p:cNvSpPr/>
          <p:nvPr/>
        </p:nvSpPr>
        <p:spPr>
          <a:xfrm>
            <a:off x="331020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3"/>
          <p:cNvSpPr/>
          <p:nvPr/>
        </p:nvSpPr>
        <p:spPr>
          <a:xfrm flipV="1">
            <a:off x="3429000" y="3657600"/>
            <a:ext cx="200880" cy="118800"/>
          </a:xfrm>
          <a:prstGeom prst="line">
            <a:avLst/>
          </a:prstGeom>
          <a:ln w="201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4"/>
          <p:cNvSpPr/>
          <p:nvPr/>
        </p:nvSpPr>
        <p:spPr>
          <a:xfrm>
            <a:off x="3420000" y="3767400"/>
            <a:ext cx="45360" cy="45360"/>
          </a:xfrm>
          <a:prstGeom prst="ellipse">
            <a:avLst/>
          </a:prstGeom>
          <a:solidFill>
            <a:srgbClr val="25C7E5"/>
          </a:solidFill>
          <a:ln w="1260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2600" rIns="90000" bIns="-126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5"/>
          <p:cNvSpPr/>
          <p:nvPr/>
        </p:nvSpPr>
        <p:spPr>
          <a:xfrm>
            <a:off x="312732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LOGÍSTICA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"/>
          <p:cNvSpPr/>
          <p:nvPr/>
        </p:nvSpPr>
        <p:spPr>
          <a:xfrm>
            <a:off x="290772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tempo · atraso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tentativas · frete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7"/>
          <p:cNvSpPr/>
          <p:nvPr/>
        </p:nvSpPr>
        <p:spPr>
          <a:xfrm>
            <a:off x="581544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8"/>
          <p:cNvSpPr/>
          <p:nvPr/>
        </p:nvSpPr>
        <p:spPr>
          <a:xfrm>
            <a:off x="5925240" y="3620880"/>
            <a:ext cx="219240" cy="155160"/>
          </a:xfrm>
          <a:prstGeom prst="roundRect">
            <a:avLst>
              <a:gd name="adj" fmla="val 23529"/>
            </a:avLst>
          </a:prstGeom>
          <a:noFill/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9"/>
          <p:cNvSpPr/>
          <p:nvPr/>
        </p:nvSpPr>
        <p:spPr>
          <a:xfrm flipH="1">
            <a:off x="5943600" y="3776400"/>
            <a:ext cx="36360" cy="54720"/>
          </a:xfrm>
          <a:prstGeom prst="line">
            <a:avLst/>
          </a:prstGeom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0"/>
          <p:cNvSpPr/>
          <p:nvPr/>
        </p:nvSpPr>
        <p:spPr>
          <a:xfrm>
            <a:off x="563256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ATENDIMENTO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1"/>
          <p:cNvSpPr/>
          <p:nvPr/>
        </p:nvSpPr>
        <p:spPr>
          <a:xfrm>
            <a:off x="541332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contatos · resolução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reclamações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2"/>
          <p:cNvSpPr/>
          <p:nvPr/>
        </p:nvSpPr>
        <p:spPr>
          <a:xfrm>
            <a:off x="832104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3"/>
          <p:cNvSpPr/>
          <p:nvPr/>
        </p:nvSpPr>
        <p:spPr>
          <a:xfrm>
            <a:off x="8375760" y="3547800"/>
            <a:ext cx="328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9</a:t>
            </a:r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34"/>
          <p:cNvSpPr/>
          <p:nvPr/>
        </p:nvSpPr>
        <p:spPr>
          <a:xfrm>
            <a:off x="813816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SATISFAÇÃO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35"/>
          <p:cNvSpPr/>
          <p:nvPr/>
        </p:nvSpPr>
        <p:spPr>
          <a:xfrm>
            <a:off x="791856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NPS · CSAT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recompra 30d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36"/>
          <p:cNvSpPr/>
          <p:nvPr/>
        </p:nvSpPr>
        <p:spPr>
          <a:xfrm>
            <a:off x="749880" y="5111640"/>
            <a:ext cx="489168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3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+ perfil do cliente: idade · região · tempo de relacionamento</a:t>
            </a:r>
            <a:endParaRPr lang="pt-BR" sz="103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7"/>
          <p:cNvSpPr/>
          <p:nvPr/>
        </p:nvSpPr>
        <p:spPr>
          <a:xfrm>
            <a:off x="6784920" y="5056560"/>
            <a:ext cx="7128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20" b="1" u="none" strike="noStrike" spc="99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TARGET</a:t>
            </a:r>
            <a:endParaRPr lang="pt-BR" sz="9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8"/>
          <p:cNvSpPr/>
          <p:nvPr/>
        </p:nvSpPr>
        <p:spPr>
          <a:xfrm>
            <a:off x="7571160" y="5029200"/>
            <a:ext cx="13255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60" b="1" u="none" strike="noStrike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NPS SCORE 0–10</a:t>
            </a:r>
            <a:endParaRPr lang="pt-BR" sz="11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39"/>
          <p:cNvSpPr/>
          <p:nvPr/>
        </p:nvSpPr>
        <p:spPr>
          <a:xfrm>
            <a:off x="6784920" y="5504760"/>
            <a:ext cx="1554120" cy="621360"/>
          </a:xfrm>
          <a:prstGeom prst="roundRect">
            <a:avLst>
              <a:gd name="adj" fmla="val 7353"/>
            </a:avLst>
          </a:prstGeom>
          <a:solidFill>
            <a:srgbClr val="FDECEE"/>
          </a:solidFill>
          <a:ln w="12600">
            <a:solidFill>
              <a:srgbClr val="EE5A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0"/>
          <p:cNvSpPr/>
          <p:nvPr/>
        </p:nvSpPr>
        <p:spPr>
          <a:xfrm>
            <a:off x="6894720" y="5596200"/>
            <a:ext cx="1334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EE5A62"/>
                </a:solidFill>
                <a:effectLst/>
                <a:uFillTx/>
                <a:latin typeface="Aptos"/>
                <a:ea typeface="Aptos"/>
              </a:rPr>
              <a:t>Detrator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41"/>
          <p:cNvSpPr/>
          <p:nvPr/>
        </p:nvSpPr>
        <p:spPr>
          <a:xfrm>
            <a:off x="6894720" y="5833800"/>
            <a:ext cx="13345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≤ 6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2"/>
          <p:cNvSpPr/>
          <p:nvPr/>
        </p:nvSpPr>
        <p:spPr>
          <a:xfrm>
            <a:off x="8412480" y="5504760"/>
            <a:ext cx="1352880" cy="621360"/>
          </a:xfrm>
          <a:prstGeom prst="roundRect">
            <a:avLst>
              <a:gd name="adj" fmla="val 7353"/>
            </a:avLst>
          </a:prstGeom>
          <a:solidFill>
            <a:srgbClr val="FFF5DF"/>
          </a:solidFill>
          <a:ln w="12600">
            <a:solidFill>
              <a:srgbClr val="F4B6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43"/>
          <p:cNvSpPr/>
          <p:nvPr/>
        </p:nvSpPr>
        <p:spPr>
          <a:xfrm>
            <a:off x="8522280" y="5596200"/>
            <a:ext cx="1133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F4B64A"/>
                </a:solidFill>
                <a:effectLst/>
                <a:uFillTx/>
                <a:latin typeface="Aptos"/>
                <a:ea typeface="Aptos"/>
              </a:rPr>
              <a:t>Neutro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4"/>
          <p:cNvSpPr/>
          <p:nvPr/>
        </p:nvSpPr>
        <p:spPr>
          <a:xfrm>
            <a:off x="8522280" y="5833800"/>
            <a:ext cx="11336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&gt; 6 a ≤ 8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45"/>
          <p:cNvSpPr/>
          <p:nvPr/>
        </p:nvSpPr>
        <p:spPr>
          <a:xfrm>
            <a:off x="9838800" y="550476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E9F7F1"/>
          </a:solidFill>
          <a:ln w="12600">
            <a:solidFill>
              <a:srgbClr val="27A7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6"/>
          <p:cNvSpPr/>
          <p:nvPr/>
        </p:nvSpPr>
        <p:spPr>
          <a:xfrm>
            <a:off x="9948600" y="5596200"/>
            <a:ext cx="12430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27A77A"/>
                </a:solidFill>
                <a:effectLst/>
                <a:uFillTx/>
                <a:latin typeface="Aptos"/>
                <a:ea typeface="Aptos"/>
              </a:rPr>
              <a:t>Promotor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7"/>
          <p:cNvSpPr/>
          <p:nvPr/>
        </p:nvSpPr>
        <p:spPr>
          <a:xfrm>
            <a:off x="9948600" y="5833800"/>
            <a:ext cx="1243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&gt; 8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48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9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03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2 · QUALIDADE &amp; PREPARAÇÃO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58440" y="786240"/>
            <a:ext cx="10881000" cy="84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11,9% da base foi isolada para auditoria, garantindo uma análise baseada apenas em dados consistentes e rastreáveis.</a:t>
            </a:r>
            <a:endParaRPr lang="pt-BR" sz="2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A decisão preserva rastreabilidade: a EDA usa 2.202 pedidos e mantém os casos críticos separados para auditoria.</a:t>
            </a:r>
            <a:endParaRPr lang="pt-BR" sz="12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658440" y="2212920"/>
            <a:ext cx="1096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3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TRATAMENTO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658440" y="2541960"/>
            <a:ext cx="13255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2.500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658440" y="3054240"/>
            <a:ext cx="14169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base original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2212560" y="2816280"/>
            <a:ext cx="1051560" cy="360"/>
          </a:xfrm>
          <a:prstGeom prst="line">
            <a:avLst/>
          </a:prstGeom>
          <a:ln w="255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3502080" y="2541960"/>
            <a:ext cx="10512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298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3502080" y="3054240"/>
            <a:ext cx="1142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6A5AA"/>
                </a:solidFill>
                <a:effectLst/>
                <a:uFillTx/>
                <a:latin typeface="Aptos"/>
                <a:ea typeface="Aptos"/>
              </a:rPr>
              <a:t>quarentena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3502080" y="328284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11,9%</a:t>
            </a:r>
            <a:endParaRPr lang="pt-BR" sz="10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0"/>
          <p:cNvSpPr/>
          <p:nvPr/>
        </p:nvSpPr>
        <p:spPr>
          <a:xfrm>
            <a:off x="4772880" y="2816280"/>
            <a:ext cx="1051560" cy="360"/>
          </a:xfrm>
          <a:prstGeom prst="line">
            <a:avLst/>
          </a:prstGeom>
          <a:ln w="255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1"/>
          <p:cNvSpPr/>
          <p:nvPr/>
        </p:nvSpPr>
        <p:spPr>
          <a:xfrm>
            <a:off x="6062400" y="254196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2.202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6062400" y="3054240"/>
            <a:ext cx="1325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A9E4CF"/>
                </a:solidFill>
                <a:effectLst/>
                <a:uFillTx/>
                <a:latin typeface="Aptos"/>
                <a:ea typeface="Aptos"/>
              </a:rPr>
              <a:t>base da EDA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3"/>
          <p:cNvSpPr/>
          <p:nvPr/>
        </p:nvSpPr>
        <p:spPr>
          <a:xfrm>
            <a:off x="6062400" y="3282840"/>
            <a:ext cx="15084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88,1% preservados</a:t>
            </a:r>
            <a:endParaRPr lang="pt-BR" sz="10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658080" y="3858480"/>
            <a:ext cx="674856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658080" y="4018686"/>
            <a:ext cx="2157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16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O QUE LEVOU À QUARENTENA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0"/>
          <p:cNvSpPr/>
          <p:nvPr/>
        </p:nvSpPr>
        <p:spPr>
          <a:xfrm>
            <a:off x="658080" y="5080839"/>
            <a:ext cx="4297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298 registros únicos violavam ao menos uma das duas regras.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1"/>
          <p:cNvSpPr/>
          <p:nvPr/>
        </p:nvSpPr>
        <p:spPr>
          <a:xfrm>
            <a:off x="627785" y="5394960"/>
            <a:ext cx="5074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Frete &gt; pedido foi sinalizado, mas mantido: é incomum, não impossível.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2"/>
          <p:cNvSpPr/>
          <p:nvPr/>
        </p:nvSpPr>
        <p:spPr>
          <a:xfrm>
            <a:off x="7900560" y="2212920"/>
            <a:ext cx="3611520" cy="3456000"/>
          </a:xfrm>
          <a:prstGeom prst="roundRect">
            <a:avLst>
              <a:gd name="adj" fmla="val 1587"/>
            </a:avLst>
          </a:prstGeom>
          <a:solidFill>
            <a:srgbClr val="0D1A2B"/>
          </a:solidFill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3"/>
          <p:cNvSpPr/>
          <p:nvPr/>
        </p:nvSpPr>
        <p:spPr>
          <a:xfrm>
            <a:off x="8192880" y="2505600"/>
            <a:ext cx="1416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spc="119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BASE ANALÍTICA</a:t>
            </a:r>
            <a:endParaRPr lang="pt-BR" sz="93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4"/>
          <p:cNvSpPr/>
          <p:nvPr/>
        </p:nvSpPr>
        <p:spPr>
          <a:xfrm>
            <a:off x="8192880" y="284364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34</a:t>
            </a:r>
            <a:endParaRPr lang="pt-BR" sz="30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5"/>
          <p:cNvSpPr/>
          <p:nvPr/>
        </p:nvSpPr>
        <p:spPr>
          <a:xfrm>
            <a:off x="8979480" y="292608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40" b="1" u="none" strike="noStrike" noProof="0" dirty="0">
                <a:solidFill>
                  <a:srgbClr val="B9C5D5"/>
                </a:solidFill>
                <a:effectLst/>
                <a:uFillTx/>
                <a:latin typeface="Aptos"/>
                <a:ea typeface="Aptos"/>
              </a:rPr>
              <a:t>colunas finais</a:t>
            </a:r>
            <a:endParaRPr lang="pt-BR" sz="114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6"/>
          <p:cNvSpPr/>
          <p:nvPr/>
        </p:nvSpPr>
        <p:spPr>
          <a:xfrm>
            <a:off x="8192880" y="3401640"/>
            <a:ext cx="2239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7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19 originais  +  15 derivadas</a:t>
            </a:r>
            <a:endParaRPr lang="pt-BR" sz="11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7"/>
          <p:cNvSpPr/>
          <p:nvPr/>
        </p:nvSpPr>
        <p:spPr>
          <a:xfrm>
            <a:off x="8192880" y="3822120"/>
            <a:ext cx="270648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8"/>
          <p:cNvSpPr/>
          <p:nvPr/>
        </p:nvSpPr>
        <p:spPr>
          <a:xfrm>
            <a:off x="8192880" y="4041720"/>
            <a:ext cx="265140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As derivadas transformam dados brutos</a:t>
            </a:r>
            <a:endParaRPr lang="pt-BR" sz="10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em variáveis mais úteis para o negócio:</a:t>
            </a:r>
            <a:endParaRPr lang="pt-BR" sz="10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9"/>
          <p:cNvSpPr/>
          <p:nvPr/>
        </p:nvSpPr>
        <p:spPr>
          <a:xfrm>
            <a:off x="8192880" y="459936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indicadores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0"/>
          <p:cNvSpPr/>
          <p:nvPr/>
        </p:nvSpPr>
        <p:spPr>
          <a:xfrm>
            <a:off x="9034200" y="459936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· contato · reclamação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1"/>
          <p:cNvSpPr/>
          <p:nvPr/>
        </p:nvSpPr>
        <p:spPr>
          <a:xfrm>
            <a:off x="8192880" y="494676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faixas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2"/>
          <p:cNvSpPr/>
          <p:nvPr/>
        </p:nvSpPr>
        <p:spPr>
          <a:xfrm>
            <a:off x="9034200" y="494676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idade · tenure · valor · entrega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3"/>
          <p:cNvSpPr/>
          <p:nvPr/>
        </p:nvSpPr>
        <p:spPr>
          <a:xfrm>
            <a:off x="8192880" y="529452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proporções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4"/>
          <p:cNvSpPr/>
          <p:nvPr/>
        </p:nvSpPr>
        <p:spPr>
          <a:xfrm>
            <a:off x="9034200" y="529452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relativo · desconto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5"/>
          <p:cNvSpPr/>
          <p:nvPr/>
        </p:nvSpPr>
        <p:spPr>
          <a:xfrm>
            <a:off x="7900560" y="5833800"/>
            <a:ext cx="3611520" cy="456840"/>
          </a:xfrm>
          <a:prstGeom prst="roundRect">
            <a:avLst>
              <a:gd name="adj" fmla="val 8000"/>
            </a:avLst>
          </a:prstGeom>
          <a:solidFill>
            <a:srgbClr val="10263A"/>
          </a:solidFill>
          <a:ln w="12600">
            <a:solidFill>
              <a:srgbClr val="1E566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36"/>
          <p:cNvSpPr/>
          <p:nvPr/>
        </p:nvSpPr>
        <p:spPr>
          <a:xfrm>
            <a:off x="8119800" y="5943600"/>
            <a:ext cx="3145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7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Princípio: preservar o original e auditar exceções.</a:t>
            </a:r>
            <a:endParaRPr lang="pt-BR" sz="9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37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38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04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78A18277-282A-E59D-BA0A-6F4276DA6D75}"/>
              </a:ext>
            </a:extLst>
          </p:cNvPr>
          <p:cNvSpPr/>
          <p:nvPr/>
        </p:nvSpPr>
        <p:spPr>
          <a:xfrm>
            <a:off x="662145" y="4375440"/>
            <a:ext cx="6944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267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64D5BF3-8912-543C-83CD-02B2D9734DBD}"/>
              </a:ext>
            </a:extLst>
          </p:cNvPr>
          <p:cNvSpPr/>
          <p:nvPr/>
        </p:nvSpPr>
        <p:spPr>
          <a:xfrm>
            <a:off x="662145" y="4731840"/>
            <a:ext cx="1700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≥ tempo total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869558F8-0996-79A9-4F3C-3B834636C712}"/>
              </a:ext>
            </a:extLst>
          </p:cNvPr>
          <p:cNvSpPr/>
          <p:nvPr/>
        </p:nvSpPr>
        <p:spPr>
          <a:xfrm>
            <a:off x="2369498" y="4375440"/>
            <a:ext cx="5666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31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79B19BCD-6425-7C3D-7239-42F76F94ACAC}"/>
              </a:ext>
            </a:extLst>
          </p:cNvPr>
          <p:cNvSpPr/>
          <p:nvPr/>
        </p:nvSpPr>
        <p:spPr>
          <a:xfrm>
            <a:off x="2333483" y="4709520"/>
            <a:ext cx="1481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desconto &gt; pedido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686906F5-56A5-BE06-CA84-1881B0621128}"/>
              </a:ext>
            </a:extLst>
          </p:cNvPr>
          <p:cNvSpPr/>
          <p:nvPr/>
        </p:nvSpPr>
        <p:spPr>
          <a:xfrm>
            <a:off x="3785580" y="4353120"/>
            <a:ext cx="4201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4B64A"/>
                </a:solidFill>
                <a:effectLst/>
                <a:uFillTx/>
                <a:latin typeface="Aptos Display"/>
                <a:ea typeface="Aptos Display"/>
              </a:rPr>
              <a:t>4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1">
            <a:extLst>
              <a:ext uri="{FF2B5EF4-FFF2-40B4-BE49-F238E27FC236}">
                <a16:creationId xmlns:a16="http://schemas.microsoft.com/office/drawing/2014/main" id="{4101EB52-ED65-6184-B184-A4AFB263ACF7}"/>
              </a:ext>
            </a:extLst>
          </p:cNvPr>
          <p:cNvSpPr/>
          <p:nvPr/>
        </p:nvSpPr>
        <p:spPr>
          <a:xfrm>
            <a:off x="3785580" y="4709520"/>
            <a:ext cx="15724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violam as duas regras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O QUE OS DADOS MOSTRAM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Quatro em cada cinco pedidos terminam com um cliente insatisfeito.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Distribuição do NPS entre os 2.202 pedidos analisados após o tratamento da 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900" b="1" i="0">
                <a:solidFill>
                  <a:srgbClr val="EE5A62"/>
                </a:solidFill>
                <a:latin typeface="Aptos Display"/>
              </a:rPr>
              <a:t>83,1%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18688"/>
            <a:ext cx="24231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20" b="1" i="0">
                <a:solidFill>
                  <a:srgbClr val="FFFFFF"/>
                </a:solidFill>
                <a:latin typeface="Aptos"/>
              </a:rPr>
              <a:t>são detratores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9039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0" i="0">
                <a:solidFill>
                  <a:srgbClr val="9FB0C6"/>
                </a:solidFill>
                <a:latin typeface="Aptos"/>
              </a:rPr>
              <a:t>1.829 de 2.202 pedidos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1480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33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1600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F6A5AA"/>
                </a:solidFill>
                <a:latin typeface="Aptos"/>
              </a:rPr>
              <a:t>maioria absoluta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2212848"/>
            <a:ext cx="7991856" cy="3611880"/>
          </a:xfrm>
          <a:prstGeom prst="roundRect">
            <a:avLst>
              <a:gd name="adj" fmla="val 3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248716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1" i="0">
                <a:solidFill>
                  <a:srgbClr val="25C7E5"/>
                </a:solidFill>
                <a:latin typeface="Aptos"/>
              </a:rPr>
              <a:t>DISTRIBUIÇÃO COMPLETA</a:t>
            </a:r>
          </a:p>
        </p:txBody>
      </p:sp>
      <p:sp>
        <p:nvSpPr>
          <p:cNvPr id="12" name="Oval 11"/>
          <p:cNvSpPr/>
          <p:nvPr/>
        </p:nvSpPr>
        <p:spPr>
          <a:xfrm>
            <a:off x="3822191" y="2990087"/>
            <a:ext cx="118872" cy="118872"/>
          </a:xfrm>
          <a:prstGeom prst="ellipse">
            <a:avLst/>
          </a:prstGeom>
          <a:solidFill>
            <a:srgbClr val="EE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59935" y="2916936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Detrator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91693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1.829 pedidos · 83,1%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2191" y="3273551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22191" y="3273551"/>
            <a:ext cx="6154917" cy="128016"/>
          </a:xfrm>
          <a:prstGeom prst="roundRect">
            <a:avLst>
              <a:gd name="adj" fmla="val 50000"/>
            </a:avLst>
          </a:prstGeom>
          <a:solidFill>
            <a:srgbClr val="EE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22191" y="3776472"/>
            <a:ext cx="118872" cy="118872"/>
          </a:xfrm>
          <a:prstGeom prst="ellipse">
            <a:avLst/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59935" y="3703320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Neutro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703320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267 pedidos · 12,1%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4059936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22191" y="4059936"/>
            <a:ext cx="896203" cy="128016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22191" y="4562856"/>
            <a:ext cx="118872" cy="118872"/>
          </a:xfrm>
          <a:prstGeom prst="ellipse">
            <a:avLst/>
          </a:prstGeom>
          <a:solidFill>
            <a:srgbClr val="27A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9935" y="4489704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Promotor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4489704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106 pedidos · 4,8%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2191" y="4846320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2191" y="4846320"/>
            <a:ext cx="355518" cy="128016"/>
          </a:xfrm>
          <a:prstGeom prst="roundRect">
            <a:avLst>
              <a:gd name="adj" fmla="val 50000"/>
            </a:avLst>
          </a:prstGeom>
          <a:solidFill>
            <a:srgbClr val="27A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3822191" y="5349240"/>
            <a:ext cx="7406641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22191" y="5486400"/>
            <a:ext cx="7406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87E5F2"/>
                </a:solidFill>
                <a:latin typeface="Aptos"/>
              </a:rPr>
              <a:t>NPS médio: </a:t>
            </a:r>
            <a:r>
              <a:rPr sz="1120" b="1" i="0">
                <a:solidFill>
                  <a:srgbClr val="FFFFFF"/>
                </a:solidFill>
                <a:latin typeface="Aptos"/>
              </a:rPr>
              <a:t>4,55</a:t>
            </a:r>
            <a:r>
              <a:rPr sz="1120" b="0" i="0">
                <a:solidFill>
                  <a:srgbClr val="A6B4C6"/>
                </a:solidFill>
                <a:latin typeface="Aptos"/>
              </a:rPr>
              <a:t>   ·   mediana: </a:t>
            </a:r>
            <a:r>
              <a:rPr sz="1120" b="1" i="0">
                <a:solidFill>
                  <a:srgbClr val="FFFFFF"/>
                </a:solidFill>
                <a:latin typeface="Aptos"/>
              </a:rPr>
              <a:t>4,60</a:t>
            </a:r>
            <a:r>
              <a:rPr sz="1120" b="0" i="0">
                <a:solidFill>
                  <a:srgbClr val="A6B4C6"/>
                </a:solidFill>
                <a:latin typeface="Aptos"/>
              </a:rPr>
              <a:t>   ·   escala 0–10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FATORES CRÍTICOS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Entrega no prazo é o fator com maior peso no NPS.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Correlação de cada variável operacional com o NPS Score, sobre os 2.202 pedidos tratados.</a:t>
            </a:r>
          </a:p>
        </p:txBody>
      </p:sp>
      <p:sp>
        <p:nvSpPr>
          <p:cNvPr id="5" name="Oval 4"/>
          <p:cNvSpPr/>
          <p:nvPr/>
        </p:nvSpPr>
        <p:spPr>
          <a:xfrm>
            <a:off x="832104" y="2039112"/>
            <a:ext cx="493776" cy="493776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0552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091220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2121408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Atraso na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487168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− 0,578 · quanto maior o atraso, menor o NPS</a:t>
            </a:r>
          </a:p>
        </p:txBody>
      </p:sp>
      <p:sp>
        <p:nvSpPr>
          <p:cNvPr id="9" name="Oval 8"/>
          <p:cNvSpPr/>
          <p:nvPr/>
        </p:nvSpPr>
        <p:spPr>
          <a:xfrm>
            <a:off x="832104" y="2871216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962656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953512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Recompra em 30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319272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+ 0,578 · cliente satisfeito volta a comprar</a:t>
            </a:r>
          </a:p>
        </p:txBody>
      </p:sp>
      <p:sp>
        <p:nvSpPr>
          <p:cNvPr id="13" name="Oval 12"/>
          <p:cNvSpPr/>
          <p:nvPr/>
        </p:nvSpPr>
        <p:spPr>
          <a:xfrm>
            <a:off x="832104" y="3703320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3794759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785615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CSAT interno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151376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+ 0,548 · a métrica interna confirma o NPS</a:t>
            </a:r>
          </a:p>
        </p:txBody>
      </p:sp>
      <p:sp>
        <p:nvSpPr>
          <p:cNvPr id="17" name="Oval 16"/>
          <p:cNvSpPr/>
          <p:nvPr/>
        </p:nvSpPr>
        <p:spPr>
          <a:xfrm>
            <a:off x="832104" y="4535424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4626864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617720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Reclamações registradas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4983480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− 0,507 · mais reclamações, nota mais baixa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9248" y="2157984"/>
            <a:ext cx="3794760" cy="3364992"/>
          </a:xfrm>
          <a:prstGeom prst="roundRect">
            <a:avLst>
              <a:gd name="adj" fmla="val 4500"/>
            </a:avLst>
          </a:prstGeom>
          <a:solidFill>
            <a:srgbClr val="09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0144" y="2487168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DETRATOR VS. NÃO-DETRATOR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944368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+144,6%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8" y="29992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dias de atraso na entrega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010144" y="3474720"/>
            <a:ext cx="317296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10144" y="3657600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+75,3%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16568" y="3712463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contatos com atendimento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010144" y="4187952"/>
            <a:ext cx="317296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010144" y="4370832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+71,0%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442569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reclamações registradas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4" y="49194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90" b="1" i="0">
                <a:solidFill>
                  <a:srgbClr val="87E5F2"/>
                </a:solidFill>
                <a:latin typeface="Aptos"/>
              </a:rPr>
              <a:t>Fatores demográficos (idade, região, tempo de casa) têm impacto mínimo no NPS.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PONTO DE RUPTURA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Basta 1 dia de atraso para o NPS despencar.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NPS médio e proporção de detratores por dias de atraso na entrega (2.202 pedidos).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07</a:t>
            </a:r>
          </a:p>
        </p:txBody>
      </p:sp>
      <p:pic>
        <p:nvPicPr>
          <p:cNvPr id="33" name="Picture 32" descr="ruptur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12848"/>
            <a:ext cx="6903720" cy="3182112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7818120" y="2212848"/>
            <a:ext cx="3712463" cy="3182112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92440" y="2450591"/>
            <a:ext cx="31638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O IMPACTO DO 1º DIA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2779776"/>
            <a:ext cx="316382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E5A62"/>
                </a:solidFill>
                <a:latin typeface="Aptos Display"/>
              </a:rPr>
              <a:t>−1,3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3364991"/>
            <a:ext cx="31638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ptos"/>
              </a:rPr>
              <a:t>pontos de NPS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092440" y="3730752"/>
            <a:ext cx="3163823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092440" y="3913632"/>
            <a:ext cx="316382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E5A62"/>
                </a:solidFill>
                <a:latin typeface="Aptos Display"/>
              </a:rPr>
              <a:t>+22,3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2440" y="4498848"/>
            <a:ext cx="31638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ptos"/>
              </a:rPr>
              <a:t>p.p. a mais de detratores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092440" y="4864608"/>
            <a:ext cx="3163823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092440" y="4974336"/>
            <a:ext cx="31638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0" i="0">
                <a:solidFill>
                  <a:srgbClr val="A6B4C6"/>
                </a:solidFill>
                <a:latin typeface="Aptos"/>
              </a:rPr>
              <a:t>comparando 0 dia vs. 1 dia de atraso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57784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1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5705855"/>
            <a:ext cx="10241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Não existe “atraso aceitável” na percepção do cliente — </a:t>
            </a:r>
            <a:r>
              <a:rPr sz="1200" b="1" i="0">
                <a:solidFill>
                  <a:srgbClr val="87E5F2"/>
                </a:solidFill>
                <a:latin typeface="Aptos"/>
              </a:rPr>
              <a:t>o salto de 0 para 1 dia já é o maior choque de satisfação da jornada.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4 · QUEM SÃO ESSES CLIENTES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A diferença entre promotor e detrator é operacional, não demográfica.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Comportamento médio dos 106 promotores e dos 1.829 detratores da base tratada.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074920" cy="3703320"/>
          </a:xfrm>
          <a:prstGeom prst="roundRect">
            <a:avLst>
              <a:gd name="adj" fmla="val 3500"/>
            </a:avLst>
          </a:prstGeom>
          <a:solidFill>
            <a:srgbClr val="E9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53327" y="2212848"/>
            <a:ext cx="5074920" cy="3703320"/>
          </a:xfrm>
          <a:prstGeom prst="roundRect">
            <a:avLst>
              <a:gd name="adj" fmla="val 35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46888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7A77A"/>
                </a:solidFill>
                <a:latin typeface="Aptos"/>
              </a:rPr>
              <a:t>PROMOTOR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743200"/>
            <a:ext cx="44531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Aptos"/>
              </a:rPr>
              <a:t>4,8% da base · 106 pedidos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4223" y="246888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E5A62"/>
                </a:solidFill>
                <a:latin typeface="Aptos"/>
              </a:rPr>
              <a:t>DETRATOR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3" y="2743200"/>
            <a:ext cx="44531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Aptos"/>
              </a:rPr>
              <a:t>83,1% da base · 1.829 pedidos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218688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Atraso médio na entrega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31912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0,7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3" y="3218688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Atraso médio na entrega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6647" y="31912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2,3 dias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264" y="3621024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364223" y="3621024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" y="3730752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Reclamações registradas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3703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2,3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3" y="3730752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Reclamações registradas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7" y="3703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4,4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9264" y="4133088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64223" y="4133088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69264" y="4242816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Contatos com atendimento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421538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0,7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3" y="4242816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Contatos com atendimento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7" y="421538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1,6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69264" y="4645152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364223" y="4645152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69264" y="4754880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CSAT interno (0–10)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47274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6,1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3" y="4754880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CSAT interno (0–10)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6647" y="47274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2,6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9264" y="5157216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364223" y="5157216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69264" y="5266944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Recompra em 30 dias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5239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3" y="5266944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Recompra em 30 dias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6647" y="5239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080759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1" i="0">
                <a:solidFill>
                  <a:srgbClr val="667085"/>
                </a:solidFill>
                <a:latin typeface="Aptos"/>
              </a:rPr>
              <a:t>Idade, região e tempo de relacionamento variam pouco entre os grupos — a experiência de entrega e atendimento é o que decide.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4 · RECOMENDAÇÕES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Três ações operacionais, priorizadas pelo impacto nos dados.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Construídas a partir dos achados da EDA — independentes do modelo preditivo (item opcional).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2688" y="2395728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78024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35915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Eliminar o primeiro dia de atraso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395728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414016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MÁXIMA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2688336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O salto de 0 para 1 dia de atraso já derruba o NPS em 1,3 pontos e aumenta os detratores em 22,3 p.p. Ação: revisar SLA logístico e gargalos da última milha.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566160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749039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831335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712463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Resolver antes de o cliente reclamar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3749039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376732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7632" y="4041648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Detratores fazem 75,3% mais contatos e 71,0% mais reclamações do que não-detratores. Ação: notificar e agir assim que um atraso é detectado, antes da reclamação.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19472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5102352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184648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506577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Acompanhar recompra como termômetro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5102352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8120" y="5120640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CONTÍNUA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5394960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100% dos promotores recompram em 30 dias; 0% dos detratores recompram. Ação: monitorar recompra e CSAT interno como indicadores antecipados de satisfação.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5 · LIMITAÇÕES E 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O que ainda não podemos afirmar — e o que fazemos a seguir.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Honestidade sobre os limites da análise antes de qualquer decisão de negócio.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Correlação não é causalidade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Atraso, reclamação e nota baixa andam juntos nos dados — mas isso não prova, sozinho, que um causa o outro.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36008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Fotografia histórica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Os dados são de um período fixo e não mostram época do ano, concorrência ou tipo de produto vendido.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616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6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Base desbalanceada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Só 106 pedidos (4,8%) são de promotores — poucos casos para afirmar com certeza total o que os deixa satisfeitos.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24528"/>
            <a:ext cx="10881360" cy="1417320"/>
          </a:xfrm>
          <a:prstGeom prst="roundRect">
            <a:avLst>
              <a:gd name="adj" fmla="val 4500"/>
            </a:avLst>
          </a:prstGeom>
          <a:solidFill>
            <a:srgbClr val="09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MENSAGEM FINAL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18304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FFFFFF"/>
                </a:solidFill>
                <a:latin typeface="Aptos"/>
              </a:rPr>
              <a:t>De 2.202 pedidos, 1.829 são detratores. A maior alavanca já identificada: </a:t>
            </a:r>
            <a:r>
              <a:rPr sz="1350" b="1" i="0">
                <a:solidFill>
                  <a:srgbClr val="87E5F2"/>
                </a:solidFill>
                <a:latin typeface="Aptos"/>
              </a:rPr>
              <a:t>eliminar o primeiro dia de atraso na entrega.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85800"/>
            <a:ext cx="5943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5C7E5"/>
                </a:solidFill>
                <a:latin typeface="Aptos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8686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Aptos Display"/>
              </a:rPr>
              <a:t>Sabemos o que muda o NPS. Agora é decidir o que priorizar.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0604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FB0C6"/>
                </a:solidFill>
                <a:latin typeface="Aptos"/>
              </a:rPr>
              <a:t>Notebooks, base tratada e este material completo estão no repositório público do projeto.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429000"/>
            <a:ext cx="10881360" cy="1417320"/>
          </a:xfrm>
          <a:prstGeom prst="roundRect">
            <a:avLst>
              <a:gd name="adj" fmla="val 45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6667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REPOSITÓRIO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4106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7E5F2"/>
                </a:solidFill>
                <a:latin typeface="Aptos"/>
              </a:rPr>
              <a:t>github.com/Fabio-Costa986/Business-understanding-and-data-analysis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61688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6B4C6"/>
                </a:solidFill>
                <a:latin typeface="Aptos"/>
              </a:rPr>
              <a:t>Tratamento de dados · EDA completa · slides · vídeo executivo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16636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 Display"/>
              </a:rPr>
              <a:t>Perguntas?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7512" y="5989320"/>
            <a:ext cx="1085392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61447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0C6"/>
                </a:solidFill>
                <a:latin typeface="Aptos"/>
              </a:rPr>
              <a:t>Amanda Alves de Lima Santos  ·  Fábio da Silva Costa  ·  Gabriel Victor  ·  Vanessa Partala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Words>1046</Words>
  <Application>Microsoft Office PowerPoint</Application>
  <PresentationFormat>Widescreen</PresentationFormat>
  <Paragraphs>159</Paragraphs>
  <Slides>4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+ Alura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 Victor</dc:creator>
  <cp:lastModifiedBy>Gabriel Victor</cp:lastModifiedBy>
  <cp:revision>3</cp:revision>
  <dcterms:modified xsi:type="dcterms:W3CDTF">2026-08-26T03:00:17Z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2026-08-26T02:19:34Z</dcterms:created>
  <dc:creator>OpenAI</dc:creator>
  <dc:description/>
  <dc:language>en-US</dc:language>
  <cp:lastModifiedBy>OpenAI</cp:lastModifiedBy>
  <dcterms:modified xsi:type="dcterms:W3CDTF">2026-08-26T02:19:34Z</dcterms:modified>
  <cp:revision>1</cp:revision>
  <dc:subject>Tech Challenge Fase 1 — NPS Preditivo</dc:subject>
  <dc:title>Tech Challenge Fase 1 — Abertura, Contexto, Dados e Preparação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4</vt:r8>
  </property>
  <property fmtid="{D5CDD505-2E9C-101B-9397-08002B2CF9AE}" pid="3" name="PresentationFormat">
    <vt:lpwstr>On-screen Show (16:9)</vt:lpwstr>
  </property>
  <property fmtid="{D5CDD505-2E9C-101B-9397-08002B2CF9AE}" pid="4" name="Slides">
    <vt:r8>4</vt:r8>
  </property>
</Properties>
</file>