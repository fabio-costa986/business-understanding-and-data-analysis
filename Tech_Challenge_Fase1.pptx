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ore0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openxmlformats.org/officedocument/2006/relationships/metadata/core-properties" Target="docProps/core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66" r:id="rId17"/>
    <p:sldId id="256" r:id="rId2"/>
    <p:sldId id="257" r:id="rId3"/>
    <p:sldId id="258" r:id="rId4"/>
    <p:sldId id="259" r:id="rId5"/>
    <p:sldId id="260" r:id="rId11"/>
    <p:sldId id="261" r:id="rId12"/>
    <p:sldId id="262" r:id="rId13"/>
    <p:sldId id="263" r:id="rId14"/>
    <p:sldId id="264" r:id="rId15"/>
    <p:sldId id="265" r:id="rId16"/>
    <p:sldId id="267" r:id="rId18"/>
  </p:sldIdLst>
  <p:sldSz cx="12192000" cy="6858000"/>
  <p:notesSz cx="6858000" cy="12192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82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.xml"/><Relationship Id="rId18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move the slide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49BF361D-903A-435D-8E80-3520D2AE61C3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‹nº›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Sugestão de fala: O e-commerce cresceu, mas o dado mais importante para abrir a discussão é que 83,1% da base tratada está na classe detratora. O ponto central é temporal: o NPS só aparece depois da jornada. Por isso, nossa pergunta é quais sinais operacionais permitem agir antes.</a:t>
            </a:r>
          </a:p>
          <a:p>
            <a:pPr indent="0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EDA - versao final.ipynb (base tratada: 1.829 detratores em 2.202 pedidos)</a:t>
            </a: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- 1IAST - Fase 1 - Tech Challenge (NPS coletado após a jornada e necessidade de atuação proativa)</a:t>
            </a: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https://www.mckinsey.com/capabilities/tech-and-ai/our-insights/making-data-analytics-work-for-you-instead-of-the-other-way-around</a:t>
            </a: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https://www.uber.com/br/en/blog/analyzing-customer-user-experience/</a:t>
            </a: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</a:p>
        </p:txBody>
      </p:sp>
      <p:sp>
        <p:nvSpPr>
          <p:cNvPr id="17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A9DA66F-2389-40C1-BD3A-CF833AAB2E4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Sugestão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de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fala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: A EDA foi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organizada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em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torno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de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quatro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perguntas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do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próprio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Tech Challenge. A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intenção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é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chegar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a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decisões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detectar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onde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está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o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problema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priorizar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o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maior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impacto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e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deixar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o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terreno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preparado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para uma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etapa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preditiva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buNone/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</a:p>
          <a:p>
            <a:pPr indent="0">
              <a:buNone/>
            </a:pP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- 1IAST - Fase 1 - Tech Challenge (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quatro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perguntas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da EDA e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foco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em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público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não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técnico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)</a:t>
            </a:r>
          </a:p>
          <a:p>
            <a:pPr indent="0">
              <a:buNone/>
            </a:pP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- EDA -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versao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final.ipynb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(Bloco 04 — EDA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estruturada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pelas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quatro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perguntas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de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negócio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)</a:t>
            </a:r>
          </a:p>
          <a:p>
            <a:pPr indent="0">
              <a:buNone/>
            </a:pP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- https://www.mckinsey.com/capabilities/growth-marketing-and-sales/our-insights/customer-journey-analytics-and-big-data</a:t>
            </a:r>
          </a:p>
          <a:p>
            <a:pPr indent="0">
              <a:buNone/>
            </a:pP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- https://careersatdoordash.com/blog/data-scientists-technical-skill-business-impact/</a:t>
            </a: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</a:p>
        </p:txBody>
      </p:sp>
      <p:sp>
        <p:nvSpPr>
          <p:cNvPr id="17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29B31B3-182E-47FB-A524-BD4DD4D781E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Sugestão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de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fala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: A base original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tem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2.500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pedidos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, 19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variáveis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nenhum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valor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ausente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e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nenhuma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duplicidade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Ela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cobre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pedido,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logística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atendimento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e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satisfação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;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além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de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perfil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do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cliente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A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variável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alvo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é o NPS de 0 a 10,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posteriormente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classificado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em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detrator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neutro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e promotor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usando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os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intervalos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definidos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no notebook.</a:t>
            </a:r>
          </a:p>
          <a:p>
            <a:pPr indent="0">
              <a:buNone/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</a:p>
          <a:p>
            <a:pPr indent="0">
              <a:buNone/>
            </a:pP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- EDA -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versao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final.ipynb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(2.500 registros, 19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colunas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, zero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ausentes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e zero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duplicidades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;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definição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contínua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das classes NPS)</a:t>
            </a:r>
          </a:p>
          <a:p>
            <a:pPr indent="0">
              <a:buNone/>
            </a:pP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- 1IAST - Fase 1 - Tech Challenge (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dicionário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da base e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definição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do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nps_score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)</a:t>
            </a:r>
          </a:p>
          <a:p>
            <a:pPr indent="0">
              <a:buNone/>
            </a:pP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- https://careersatdoordash.com/blog/data-at-doordash-transparent-ubiquitous-and-still-just-getting-started/</a:t>
            </a: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</a:p>
        </p:txBody>
      </p:sp>
      <p:sp>
        <p:nvSpPr>
          <p:cNvPr id="181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C27FD33-12B6-4CED-8DDE-540029A2EDF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Sugestão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de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fala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: Antes da EDA, a base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passou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por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validações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de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lógica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Foram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separados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298 registros únicos,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ou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11,9%,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sem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imputação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ou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correção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por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suposição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A base final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ficou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com 2.202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pedidos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e 34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colunas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: 19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originais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e 15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derivadas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Esse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tratamento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torna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a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análise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mais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rastreável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e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evita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esconder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inconsistências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buNone/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</a:p>
          <a:p>
            <a:pPr indent="0">
              <a:buNone/>
            </a:pP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- EDA -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versao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final.ipynb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(267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casos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com atraso &gt;= tempo total; 35 com desconto &gt; pedido; 298 registros únicos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em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quarentena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; 2.202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mantidos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; shape final 2.202 x 34)</a:t>
            </a:r>
          </a:p>
          <a:p>
            <a:pPr indent="0">
              <a:buNone/>
            </a:pP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- EDA -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versao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final.ipynb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(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frete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&gt; valor do pedido mantido com flag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por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ser incomum, mas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logicamente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possível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)</a:t>
            </a:r>
          </a:p>
          <a:p>
            <a:pPr indent="0">
              <a:buNone/>
            </a:pP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- https://www.mckinsey.com/capabilities/tech-and-ai/our-insights/making-data-analytics-work-for-you-instead-of-the-other-way-around</a:t>
            </a: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</a:p>
        </p:txBody>
      </p:sp>
      <p:sp>
        <p:nvSpPr>
          <p:cNvPr id="18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3B01E52-FCB6-4ACE-9832-E2AFDE44AB0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777240"/>
            <a:ext cx="5943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5C7E5"/>
                </a:solidFill>
                <a:latin typeface="Aptos"/>
              </a:rPr>
              <a:t>POS TECH  ·  TECH CHALLENGE FASE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331720"/>
            <a:ext cx="73152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Aptos Display"/>
              </a:rPr>
              <a:t>NPS Preditivo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520440"/>
            <a:ext cx="6675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9FB0C6"/>
                </a:solidFill>
                <a:latin typeface="Aptos"/>
              </a:rPr>
              <a:t>Fatores operacionais que explicam a satisfação do cliente — e como agir antes de o NPS cair.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67512" y="4434840"/>
            <a:ext cx="6647688" cy="0"/>
          </a:xfrm>
          <a:prstGeom prst="line">
            <a:avLst/>
          </a:prstGeom>
          <a:ln w="9525">
            <a:solidFill>
              <a:srgbClr val="26395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4645152"/>
            <a:ext cx="1828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40" b="1" i="0">
                <a:solidFill>
                  <a:srgbClr val="25C7E5"/>
                </a:solidFill>
                <a:latin typeface="Aptos"/>
              </a:rPr>
              <a:t>EQUIPE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901184"/>
            <a:ext cx="6766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20" b="0" i="0">
                <a:solidFill>
                  <a:srgbClr val="FFFFFF"/>
                </a:solidFill>
                <a:latin typeface="Aptos"/>
              </a:rPr>
              <a:t>Amanda Alves de Lima Santos  ·  Fábio da Silva Costa  ·  Gabriel Victor Santos Oliveira  ·  Vanessa Partala  ·  Humberto Henrique Alves Moreira dos Santos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275320" y="2331720"/>
            <a:ext cx="0" cy="2377440"/>
          </a:xfrm>
          <a:prstGeom prst="line">
            <a:avLst/>
          </a:prstGeom>
          <a:ln w="9525">
            <a:solidFill>
              <a:srgbClr val="26395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641080" y="2377440"/>
            <a:ext cx="2743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40" b="1" i="0">
                <a:solidFill>
                  <a:srgbClr val="25C7E5"/>
                </a:solidFill>
                <a:latin typeface="Aptos"/>
              </a:rPr>
              <a:t>ESCOPO DA ANÁLISE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13648" y="2670048"/>
            <a:ext cx="2743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Aptos Display"/>
              </a:rPr>
              <a:t>2.202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1080" y="3401568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FB0C6"/>
                </a:solidFill>
                <a:latin typeface="Aptos"/>
              </a:rPr>
              <a:t>pedidos tratados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41080" y="3767328"/>
            <a:ext cx="2331720" cy="310896"/>
          </a:xfrm>
          <a:prstGeom prst="roundRect">
            <a:avLst>
              <a:gd name="adj" fmla="val 50000"/>
            </a:avLst>
          </a:prstGeom>
          <a:solidFill>
            <a:srgbClr val="331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41080" y="3785615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30" b="1" i="0">
                <a:solidFill>
                  <a:srgbClr val="F6A5AA"/>
                </a:solidFill>
                <a:latin typeface="Aptos"/>
              </a:rPr>
              <a:t>83,1% são detratores hoje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501384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18399"/>
                </a:solidFill>
                <a:latin typeface="Aptos"/>
              </a:rPr>
              <a:t>Case NPS Preditivo  ·  Business Understanding &amp; Data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/>
          <p:cNvSpPr/>
          <p:nvPr/>
        </p:nvSpPr>
        <p:spPr>
          <a:xfrm>
            <a:off x="658440" y="384120"/>
            <a:ext cx="43887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950" b="1" u="none" strike="noStrike" spc="170" noProof="0" dirty="0">
                <a:solidFill>
                  <a:srgbClr val="25C7E5"/>
                </a:solidFill>
                <a:effectLst/>
                <a:uFillTx/>
                <a:latin typeface="Aptos"/>
                <a:ea typeface="Aptos"/>
              </a:rPr>
              <a:t>PARTE 1 · CONTEXTO DO PROBLEMA</a:t>
            </a:r>
            <a:endParaRPr lang="pt-BR" sz="95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658440" y="786240"/>
            <a:ext cx="1088100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900" b="1" u="none" strike="noStrike" noProof="0" dirty="0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O crescimento não é o problema. Descobrir a insatisfação tarde demais é.</a:t>
            </a:r>
            <a:endParaRPr lang="pt-BR" sz="29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658440" y="1572840"/>
            <a:ext cx="106066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10" b="0" u="none" strike="noStrike" noProof="0" dirty="0">
                <a:solidFill>
                  <a:srgbClr val="9FB0C6"/>
                </a:solidFill>
                <a:effectLst/>
                <a:uFillTx/>
                <a:latin typeface="Aptos"/>
                <a:ea typeface="Aptos"/>
              </a:rPr>
              <a:t>O NPS chega no fim da jornada. A análise busca identificar sinais operacionais antes desse momento.</a:t>
            </a:r>
            <a:endParaRPr lang="pt-BR" sz="121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658440" y="2331720"/>
            <a:ext cx="233136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4900" b="1" u="none" strike="noStrike" noProof="0" dirty="0">
                <a:solidFill>
                  <a:srgbClr val="EE5A62"/>
                </a:solidFill>
                <a:effectLst/>
                <a:uFillTx/>
                <a:latin typeface="Aptos Display"/>
                <a:ea typeface="Aptos Display"/>
              </a:rPr>
              <a:t>83,1%</a:t>
            </a:r>
            <a:endParaRPr lang="pt-BR" sz="49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685800" y="3218760"/>
            <a:ext cx="2422800" cy="60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20" b="1" u="none" strike="noStrike" noProof="0" dirty="0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dos pedidos da base tratada</a:t>
            </a:r>
            <a:endParaRPr lang="pt-BR" sz="152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20" b="1" u="none" strike="noStrike" noProof="0" dirty="0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são detratores</a:t>
            </a:r>
            <a:endParaRPr lang="pt-BR" sz="152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685800" y="3931920"/>
            <a:ext cx="255996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040" b="0" u="none" strike="noStrike" noProof="0" dirty="0">
                <a:solidFill>
                  <a:srgbClr val="9FB0C6"/>
                </a:solidFill>
                <a:effectLst/>
                <a:uFillTx/>
                <a:latin typeface="Aptos"/>
                <a:ea typeface="Aptos"/>
              </a:rPr>
              <a:t>1.829 de 2.202 pedidos analisados</a:t>
            </a:r>
            <a:endParaRPr lang="pt-BR" sz="104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6"/>
          <p:cNvSpPr/>
          <p:nvPr/>
        </p:nvSpPr>
        <p:spPr>
          <a:xfrm>
            <a:off x="685800" y="4297680"/>
            <a:ext cx="1535760" cy="292320"/>
          </a:xfrm>
          <a:prstGeom prst="roundRect">
            <a:avLst>
              <a:gd name="adj" fmla="val 50000"/>
            </a:avLst>
          </a:prstGeom>
          <a:solidFill>
            <a:srgbClr val="331A25"/>
          </a:solidFill>
          <a:ln w="12600">
            <a:solidFill>
              <a:srgbClr val="331A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7"/>
          <p:cNvSpPr/>
          <p:nvPr/>
        </p:nvSpPr>
        <p:spPr>
          <a:xfrm>
            <a:off x="758880" y="4316040"/>
            <a:ext cx="138960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930" b="1" u="none" strike="noStrike" noProof="0" dirty="0">
                <a:solidFill>
                  <a:srgbClr val="F6A5AA"/>
                </a:solidFill>
                <a:effectLst/>
                <a:uFillTx/>
                <a:latin typeface="Aptos"/>
                <a:ea typeface="Aptos"/>
              </a:rPr>
              <a:t>problema dominante</a:t>
            </a:r>
            <a:endParaRPr lang="pt-BR" sz="93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8"/>
          <p:cNvSpPr/>
          <p:nvPr/>
        </p:nvSpPr>
        <p:spPr>
          <a:xfrm>
            <a:off x="3529440" y="2249280"/>
            <a:ext cx="7991640" cy="2002320"/>
          </a:xfrm>
          <a:prstGeom prst="roundRect">
            <a:avLst>
              <a:gd name="adj" fmla="val 3653"/>
            </a:avLst>
          </a:prstGeom>
          <a:solidFill>
            <a:srgbClr val="0D1A2B"/>
          </a:solidFill>
          <a:ln w="12600">
            <a:solidFill>
              <a:srgbClr val="26395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9"/>
          <p:cNvSpPr/>
          <p:nvPr/>
        </p:nvSpPr>
        <p:spPr>
          <a:xfrm>
            <a:off x="3822120" y="2523600"/>
            <a:ext cx="20570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960" b="1" u="none" strike="noStrike" spc="125" noProof="0" dirty="0">
                <a:solidFill>
                  <a:srgbClr val="25C7E5"/>
                </a:solidFill>
                <a:effectLst/>
                <a:uFillTx/>
                <a:latin typeface="Aptos"/>
                <a:ea typeface="Aptos"/>
              </a:rPr>
              <a:t>PERGUNTA NORTEADORA</a:t>
            </a:r>
            <a:endParaRPr lang="pt-BR" sz="96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0"/>
          <p:cNvSpPr/>
          <p:nvPr/>
        </p:nvSpPr>
        <p:spPr>
          <a:xfrm>
            <a:off x="3822120" y="2853000"/>
            <a:ext cx="705888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400" b="1" u="none" strike="noStrike" noProof="0" dirty="0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Por que alguns clientes se tornam promotores</a:t>
            </a:r>
            <a:endParaRPr lang="pt-BR" sz="24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400" b="1" u="none" strike="noStrike" noProof="0" dirty="0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enquanto outros viram detratores?</a:t>
            </a:r>
            <a:endParaRPr lang="pt-BR" sz="24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1"/>
          <p:cNvSpPr/>
          <p:nvPr/>
        </p:nvSpPr>
        <p:spPr>
          <a:xfrm>
            <a:off x="3822120" y="3694320"/>
            <a:ext cx="63090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20" b="1" u="none" strike="noStrike" noProof="0" dirty="0">
                <a:solidFill>
                  <a:srgbClr val="87E5F2"/>
                </a:solidFill>
                <a:effectLst/>
                <a:uFillTx/>
                <a:latin typeface="Aptos"/>
                <a:ea typeface="Aptos"/>
              </a:rPr>
              <a:t>E como antecipar o risco antes de o NPS ser medido?</a:t>
            </a:r>
            <a:endParaRPr lang="pt-BR" sz="142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2"/>
          <p:cNvSpPr/>
          <p:nvPr/>
        </p:nvSpPr>
        <p:spPr>
          <a:xfrm>
            <a:off x="3529440" y="4736520"/>
            <a:ext cx="10969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950" b="1" u="none" strike="noStrike" spc="139" noProof="0" dirty="0">
                <a:solidFill>
                  <a:srgbClr val="25C7E5"/>
                </a:solidFill>
                <a:effectLst/>
                <a:uFillTx/>
                <a:latin typeface="Aptos"/>
                <a:ea typeface="Aptos"/>
              </a:rPr>
              <a:t>A JORNADA</a:t>
            </a:r>
            <a:endParaRPr lang="pt-BR" sz="95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13"/>
          <p:cNvSpPr/>
          <p:nvPr/>
        </p:nvSpPr>
        <p:spPr>
          <a:xfrm>
            <a:off x="3767040" y="5440680"/>
            <a:ext cx="6903720" cy="360"/>
          </a:xfrm>
          <a:prstGeom prst="line">
            <a:avLst/>
          </a:prstGeom>
          <a:ln w="25560">
            <a:solidFill>
              <a:srgbClr val="26395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t-B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14"/>
          <p:cNvSpPr/>
          <p:nvPr/>
        </p:nvSpPr>
        <p:spPr>
          <a:xfrm>
            <a:off x="3794760" y="5212080"/>
            <a:ext cx="438480" cy="438480"/>
          </a:xfrm>
          <a:prstGeom prst="ellipse">
            <a:avLst/>
          </a:prstGeom>
          <a:solidFill>
            <a:srgbClr val="14243A"/>
          </a:solidFill>
          <a:ln w="15120">
            <a:solidFill>
              <a:srgbClr val="87E5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15"/>
          <p:cNvSpPr/>
          <p:nvPr/>
        </p:nvSpPr>
        <p:spPr>
          <a:xfrm>
            <a:off x="3922920" y="5349240"/>
            <a:ext cx="182520" cy="155160"/>
          </a:xfrm>
          <a:prstGeom prst="rect">
            <a:avLst/>
          </a:prstGeom>
          <a:noFill/>
          <a:ln w="17640">
            <a:solidFill>
              <a:srgbClr val="87E5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16"/>
          <p:cNvSpPr/>
          <p:nvPr/>
        </p:nvSpPr>
        <p:spPr>
          <a:xfrm>
            <a:off x="3949920" y="5394960"/>
            <a:ext cx="128160" cy="360"/>
          </a:xfrm>
          <a:prstGeom prst="line">
            <a:avLst/>
          </a:prstGeom>
          <a:ln w="12600">
            <a:solidFill>
              <a:srgbClr val="87E5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t-B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7"/>
          <p:cNvSpPr/>
          <p:nvPr/>
        </p:nvSpPr>
        <p:spPr>
          <a:xfrm>
            <a:off x="3630240" y="5760720"/>
            <a:ext cx="785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070" b="1" u="none" strike="noStrike" noProof="0" dirty="0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Pedido</a:t>
            </a:r>
            <a:endParaRPr lang="pt-BR" sz="107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8"/>
          <p:cNvSpPr/>
          <p:nvPr/>
        </p:nvSpPr>
        <p:spPr>
          <a:xfrm>
            <a:off x="3483720" y="6007680"/>
            <a:ext cx="10785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860" b="0" u="none" strike="noStrike" noProof="0" dirty="0">
                <a:solidFill>
                  <a:srgbClr val="8EA0B6"/>
                </a:solidFill>
                <a:effectLst/>
                <a:uFillTx/>
                <a:latin typeface="Aptos"/>
                <a:ea typeface="Aptos"/>
              </a:rPr>
              <a:t>valor · itens</a:t>
            </a:r>
            <a:endParaRPr lang="pt-BR" sz="86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9"/>
          <p:cNvSpPr/>
          <p:nvPr/>
        </p:nvSpPr>
        <p:spPr>
          <a:xfrm>
            <a:off x="5742360" y="5212080"/>
            <a:ext cx="438480" cy="438480"/>
          </a:xfrm>
          <a:prstGeom prst="ellipse">
            <a:avLst/>
          </a:prstGeom>
          <a:solidFill>
            <a:srgbClr val="14243A"/>
          </a:solidFill>
          <a:ln w="15120">
            <a:solidFill>
              <a:srgbClr val="87E5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20"/>
          <p:cNvSpPr/>
          <p:nvPr/>
        </p:nvSpPr>
        <p:spPr>
          <a:xfrm flipV="1">
            <a:off x="5861160" y="5376600"/>
            <a:ext cx="201240" cy="118800"/>
          </a:xfrm>
          <a:prstGeom prst="line">
            <a:avLst/>
          </a:prstGeom>
          <a:ln w="20160">
            <a:solidFill>
              <a:srgbClr val="87E5F2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pt-B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21"/>
          <p:cNvSpPr/>
          <p:nvPr/>
        </p:nvSpPr>
        <p:spPr>
          <a:xfrm>
            <a:off x="5852160" y="5486400"/>
            <a:ext cx="45360" cy="45360"/>
          </a:xfrm>
          <a:prstGeom prst="ellipse">
            <a:avLst/>
          </a:prstGeom>
          <a:solidFill>
            <a:srgbClr val="87E5F2"/>
          </a:solidFill>
          <a:ln w="12600">
            <a:solidFill>
              <a:srgbClr val="87E5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600" rIns="90000" bIns="-12600" anchor="t">
            <a:noAutofit/>
          </a:bodyPr>
          <a:lstStyle/>
          <a:p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22"/>
          <p:cNvSpPr/>
          <p:nvPr/>
        </p:nvSpPr>
        <p:spPr>
          <a:xfrm>
            <a:off x="5577840" y="5760720"/>
            <a:ext cx="785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070" b="1" u="none" strike="noStrike" noProof="0" dirty="0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Entrega</a:t>
            </a:r>
            <a:endParaRPr lang="pt-BR" sz="107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23"/>
          <p:cNvSpPr/>
          <p:nvPr/>
        </p:nvSpPr>
        <p:spPr>
          <a:xfrm>
            <a:off x="5431680" y="6007680"/>
            <a:ext cx="10785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860" b="0" u="none" strike="noStrike" noProof="0" dirty="0">
                <a:solidFill>
                  <a:srgbClr val="8EA0B6"/>
                </a:solidFill>
                <a:effectLst/>
                <a:uFillTx/>
                <a:latin typeface="Aptos"/>
                <a:ea typeface="Aptos"/>
              </a:rPr>
              <a:t>prazo · atraso</a:t>
            </a:r>
            <a:endParaRPr lang="pt-BR" sz="86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24"/>
          <p:cNvSpPr/>
          <p:nvPr/>
        </p:nvSpPr>
        <p:spPr>
          <a:xfrm>
            <a:off x="7689960" y="5212080"/>
            <a:ext cx="438480" cy="438480"/>
          </a:xfrm>
          <a:prstGeom prst="ellipse">
            <a:avLst/>
          </a:prstGeom>
          <a:solidFill>
            <a:srgbClr val="14243A"/>
          </a:solidFill>
          <a:ln w="15120">
            <a:solidFill>
              <a:srgbClr val="87E5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25"/>
          <p:cNvSpPr/>
          <p:nvPr/>
        </p:nvSpPr>
        <p:spPr>
          <a:xfrm>
            <a:off x="7799760" y="5340240"/>
            <a:ext cx="219240" cy="155160"/>
          </a:xfrm>
          <a:prstGeom prst="roundRect">
            <a:avLst>
              <a:gd name="adj" fmla="val 23529"/>
            </a:avLst>
          </a:prstGeom>
          <a:noFill/>
          <a:ln w="15120">
            <a:solidFill>
              <a:srgbClr val="87E5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26"/>
          <p:cNvSpPr/>
          <p:nvPr/>
        </p:nvSpPr>
        <p:spPr>
          <a:xfrm flipH="1">
            <a:off x="7818120" y="5495400"/>
            <a:ext cx="36360" cy="54720"/>
          </a:xfrm>
          <a:prstGeom prst="line">
            <a:avLst/>
          </a:prstGeom>
          <a:ln w="15120">
            <a:solidFill>
              <a:srgbClr val="87E5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 anchorCtr="1">
            <a:noAutofit/>
          </a:bodyPr>
          <a:lstStyle/>
          <a:p>
            <a:endParaRPr lang="pt-B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27"/>
          <p:cNvSpPr/>
          <p:nvPr/>
        </p:nvSpPr>
        <p:spPr>
          <a:xfrm>
            <a:off x="7525440" y="5760720"/>
            <a:ext cx="785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070" b="1" u="none" strike="noStrike" noProof="0" dirty="0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Atendimento</a:t>
            </a:r>
            <a:endParaRPr lang="pt-BR" sz="107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28"/>
          <p:cNvSpPr/>
          <p:nvPr/>
        </p:nvSpPr>
        <p:spPr>
          <a:xfrm>
            <a:off x="7379280" y="6007680"/>
            <a:ext cx="10785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860" b="0" u="none" strike="noStrike" noProof="0" dirty="0">
                <a:solidFill>
                  <a:srgbClr val="8EA0B6"/>
                </a:solidFill>
                <a:effectLst/>
                <a:uFillTx/>
                <a:latin typeface="Aptos"/>
                <a:ea typeface="Aptos"/>
              </a:rPr>
              <a:t>contatos · reclamações</a:t>
            </a:r>
            <a:endParaRPr lang="pt-BR" sz="86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29"/>
          <p:cNvSpPr/>
          <p:nvPr/>
        </p:nvSpPr>
        <p:spPr>
          <a:xfrm>
            <a:off x="9637920" y="5212080"/>
            <a:ext cx="438480" cy="438480"/>
          </a:xfrm>
          <a:prstGeom prst="ellipse">
            <a:avLst/>
          </a:prstGeom>
          <a:solidFill>
            <a:srgbClr val="14243A"/>
          </a:solidFill>
          <a:ln w="15120">
            <a:solidFill>
              <a:srgbClr val="87E5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30"/>
          <p:cNvSpPr/>
          <p:nvPr/>
        </p:nvSpPr>
        <p:spPr>
          <a:xfrm>
            <a:off x="9692640" y="5266800"/>
            <a:ext cx="328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1" u="none" strike="noStrike" noProof="0" dirty="0">
                <a:solidFill>
                  <a:srgbClr val="87E5F2"/>
                </a:solidFill>
                <a:effectLst/>
                <a:uFillTx/>
                <a:latin typeface="Aptos"/>
                <a:ea typeface="Aptos"/>
              </a:rPr>
              <a:t>9</a:t>
            </a:r>
            <a:endParaRPr lang="pt-B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31"/>
          <p:cNvSpPr/>
          <p:nvPr/>
        </p:nvSpPr>
        <p:spPr>
          <a:xfrm>
            <a:off x="9473040" y="5760720"/>
            <a:ext cx="785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070" b="1" u="none" strike="noStrike" noProof="0" dirty="0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NPS</a:t>
            </a:r>
            <a:endParaRPr lang="pt-BR" sz="107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32"/>
          <p:cNvSpPr/>
          <p:nvPr/>
        </p:nvSpPr>
        <p:spPr>
          <a:xfrm>
            <a:off x="9326880" y="6007680"/>
            <a:ext cx="10785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860" b="0" u="none" strike="noStrike" noProof="0" dirty="0">
                <a:solidFill>
                  <a:srgbClr val="8EA0B6"/>
                </a:solidFill>
                <a:effectLst/>
                <a:uFillTx/>
                <a:latin typeface="Aptos"/>
                <a:ea typeface="Aptos"/>
              </a:rPr>
              <a:t>medido depois</a:t>
            </a:r>
            <a:endParaRPr lang="pt-BR" sz="86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33"/>
          <p:cNvSpPr/>
          <p:nvPr/>
        </p:nvSpPr>
        <p:spPr>
          <a:xfrm>
            <a:off x="9875520" y="4928400"/>
            <a:ext cx="360" cy="219600"/>
          </a:xfrm>
          <a:prstGeom prst="line">
            <a:avLst/>
          </a:prstGeom>
          <a:ln w="25560">
            <a:solidFill>
              <a:srgbClr val="EE5A6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pt-B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34"/>
          <p:cNvSpPr/>
          <p:nvPr/>
        </p:nvSpPr>
        <p:spPr>
          <a:xfrm>
            <a:off x="9162360" y="4663440"/>
            <a:ext cx="18741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920" b="1" u="none" strike="noStrike" noProof="0" dirty="0">
                <a:solidFill>
                  <a:srgbClr val="EE5A62"/>
                </a:solidFill>
                <a:effectLst/>
                <a:uFillTx/>
                <a:latin typeface="Aptos"/>
                <a:ea typeface="Aptos"/>
              </a:rPr>
              <a:t>janela de ação já passou</a:t>
            </a:r>
            <a:endParaRPr lang="pt-BR" sz="92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35"/>
          <p:cNvSpPr/>
          <p:nvPr/>
        </p:nvSpPr>
        <p:spPr>
          <a:xfrm>
            <a:off x="658440" y="6501240"/>
            <a:ext cx="37486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850" b="0" u="none" strike="noStrike" noProof="0" dirty="0">
                <a:solidFill>
                  <a:srgbClr val="718399"/>
                </a:solidFill>
                <a:effectLst/>
                <a:uFillTx/>
                <a:latin typeface="Aptos"/>
                <a:ea typeface="Aptos"/>
              </a:rPr>
              <a:t>NPS Preditivo  ·  Tech Challenge Fase 1</a:t>
            </a:r>
            <a:endParaRPr lang="pt-BR" sz="85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36"/>
          <p:cNvSpPr/>
          <p:nvPr/>
        </p:nvSpPr>
        <p:spPr>
          <a:xfrm>
            <a:off x="11137320" y="6473880"/>
            <a:ext cx="3837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850" b="0" u="none" strike="noStrike" noProof="0" dirty="0">
                <a:solidFill>
                  <a:srgbClr val="718399"/>
                </a:solidFill>
                <a:effectLst/>
                <a:uFillTx/>
                <a:latin typeface="Aptos"/>
                <a:ea typeface="Aptos"/>
              </a:rPr>
              <a:t>01</a:t>
            </a:r>
            <a:endParaRPr lang="pt-BR" sz="85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 0"/>
          <p:cNvSpPr/>
          <p:nvPr/>
        </p:nvSpPr>
        <p:spPr>
          <a:xfrm>
            <a:off x="658440" y="384120"/>
            <a:ext cx="43887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950" b="1" u="none" strike="noStrike" spc="170" noProof="0" dirty="0">
                <a:solidFill>
                  <a:srgbClr val="25C7E5"/>
                </a:solidFill>
                <a:effectLst/>
                <a:uFillTx/>
                <a:latin typeface="Aptos"/>
                <a:ea typeface="Aptos"/>
              </a:rPr>
              <a:t>PARTE 1 · O QUE ESTAMOS RESPONDENDO</a:t>
            </a:r>
            <a:endParaRPr lang="pt-B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"/>
          <p:cNvSpPr/>
          <p:nvPr/>
        </p:nvSpPr>
        <p:spPr>
          <a:xfrm>
            <a:off x="658440" y="786240"/>
            <a:ext cx="1088100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900" b="1" u="none" strike="noStrike" noProof="0" dirty="0">
                <a:solidFill>
                  <a:srgbClr val="111827"/>
                </a:solidFill>
                <a:effectLst/>
                <a:uFillTx/>
                <a:latin typeface="Aptos Display"/>
                <a:ea typeface="Aptos Display"/>
              </a:rPr>
              <a:t>Quatro decisões de negócio estruturam toda a análise.</a:t>
            </a:r>
            <a:endParaRPr lang="pt-BR" sz="29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2"/>
          <p:cNvSpPr/>
          <p:nvPr/>
        </p:nvSpPr>
        <p:spPr>
          <a:xfrm>
            <a:off x="658440" y="1572840"/>
            <a:ext cx="106066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10" b="0" u="none" strike="noStrike" noProof="0" dirty="0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Em vez de começar pela técnica, começamos pelas perguntas que uma liderança precisa responder.</a:t>
            </a:r>
            <a:endParaRPr lang="pt-BR" sz="121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3"/>
          <p:cNvSpPr/>
          <p:nvPr/>
        </p:nvSpPr>
        <p:spPr>
          <a:xfrm>
            <a:off x="1051560" y="2331720"/>
            <a:ext cx="360" cy="360"/>
          </a:xfrm>
          <a:prstGeom prst="line">
            <a:avLst/>
          </a:prstGeom>
          <a:ln w="19080">
            <a:solidFill>
              <a:srgbClr val="DDE2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4"/>
          <p:cNvSpPr/>
          <p:nvPr/>
        </p:nvSpPr>
        <p:spPr>
          <a:xfrm>
            <a:off x="1078920" y="2267640"/>
            <a:ext cx="360" cy="3063240"/>
          </a:xfrm>
          <a:prstGeom prst="line">
            <a:avLst/>
          </a:prstGeom>
          <a:ln w="19080">
            <a:solidFill>
              <a:srgbClr val="C7D0D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5"/>
          <p:cNvSpPr/>
          <p:nvPr/>
        </p:nvSpPr>
        <p:spPr>
          <a:xfrm>
            <a:off x="831960" y="2203560"/>
            <a:ext cx="493560" cy="493560"/>
          </a:xfrm>
          <a:prstGeom prst="ellipse">
            <a:avLst/>
          </a:prstGeom>
          <a:solidFill>
            <a:srgbClr val="25C7E5"/>
          </a:solidFill>
          <a:ln w="16560">
            <a:solidFill>
              <a:srgbClr val="25C7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6"/>
          <p:cNvSpPr/>
          <p:nvPr/>
        </p:nvSpPr>
        <p:spPr>
          <a:xfrm>
            <a:off x="831960" y="2295000"/>
            <a:ext cx="4935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080" b="1" u="none" strike="noStrike" noProof="0" dirty="0">
                <a:solidFill>
                  <a:srgbClr val="091220"/>
                </a:solidFill>
                <a:effectLst/>
                <a:uFillTx/>
                <a:latin typeface="Aptos"/>
                <a:ea typeface="Aptos"/>
              </a:rPr>
              <a:t>01</a:t>
            </a:r>
            <a:endParaRPr lang="pt-BR" sz="108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7"/>
          <p:cNvSpPr/>
          <p:nvPr/>
        </p:nvSpPr>
        <p:spPr>
          <a:xfrm>
            <a:off x="1572840" y="2121480"/>
            <a:ext cx="55591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720" b="1" u="none" strike="noStrike" noProof="0" dirty="0">
                <a:solidFill>
                  <a:srgbClr val="111827"/>
                </a:solidFill>
                <a:effectLst/>
                <a:uFillTx/>
                <a:latin typeface="Aptos Display"/>
                <a:ea typeface="Aptos Display"/>
              </a:rPr>
              <a:t>Quais fatores são críticos para a satisfação?</a:t>
            </a:r>
            <a:endParaRPr lang="pt-BR" sz="172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8"/>
          <p:cNvSpPr/>
          <p:nvPr/>
        </p:nvSpPr>
        <p:spPr>
          <a:xfrm>
            <a:off x="1572840" y="2487240"/>
            <a:ext cx="54403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060" b="0" u="none" strike="noStrike" noProof="0" dirty="0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Onde a experiência realmente ganha ou perde valor.</a:t>
            </a:r>
            <a:endParaRPr lang="pt-BR" sz="106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9"/>
          <p:cNvSpPr/>
          <p:nvPr/>
        </p:nvSpPr>
        <p:spPr>
          <a:xfrm>
            <a:off x="831960" y="3035880"/>
            <a:ext cx="493560" cy="493560"/>
          </a:xfrm>
          <a:prstGeom prst="ellipse">
            <a:avLst/>
          </a:prstGeom>
          <a:solidFill>
            <a:srgbClr val="FFFFFF"/>
          </a:solidFill>
          <a:ln w="16560">
            <a:solidFill>
              <a:srgbClr val="B8C3D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0"/>
          <p:cNvSpPr/>
          <p:nvPr/>
        </p:nvSpPr>
        <p:spPr>
          <a:xfrm>
            <a:off x="831960" y="3127320"/>
            <a:ext cx="4935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080" b="1" u="none" strike="noStrike" noProof="0" dirty="0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02</a:t>
            </a:r>
            <a:endParaRPr lang="pt-BR" sz="108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1"/>
          <p:cNvSpPr/>
          <p:nvPr/>
        </p:nvSpPr>
        <p:spPr>
          <a:xfrm>
            <a:off x="1572840" y="2953440"/>
            <a:ext cx="55591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720" b="1" u="none" strike="noStrike" noProof="0" dirty="0">
                <a:solidFill>
                  <a:srgbClr val="111827"/>
                </a:solidFill>
                <a:effectLst/>
                <a:uFillTx/>
                <a:latin typeface="Aptos Display"/>
                <a:ea typeface="Aptos Display"/>
              </a:rPr>
              <a:t>O que mais gera detratores?</a:t>
            </a:r>
            <a:endParaRPr lang="pt-BR" sz="172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2"/>
          <p:cNvSpPr/>
          <p:nvPr/>
        </p:nvSpPr>
        <p:spPr>
          <a:xfrm>
            <a:off x="1572840" y="3319200"/>
            <a:ext cx="54403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060" b="0" u="none" strike="noStrike" noProof="0" dirty="0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Quais sinais operacionais merecem prioridade.</a:t>
            </a:r>
            <a:endParaRPr lang="pt-BR" sz="106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13"/>
          <p:cNvSpPr/>
          <p:nvPr/>
        </p:nvSpPr>
        <p:spPr>
          <a:xfrm>
            <a:off x="831960" y="3867840"/>
            <a:ext cx="493560" cy="493560"/>
          </a:xfrm>
          <a:prstGeom prst="ellipse">
            <a:avLst/>
          </a:prstGeom>
          <a:solidFill>
            <a:srgbClr val="FFFFFF"/>
          </a:solidFill>
          <a:ln w="16560">
            <a:solidFill>
              <a:srgbClr val="B8C3D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14"/>
          <p:cNvSpPr/>
          <p:nvPr/>
        </p:nvSpPr>
        <p:spPr>
          <a:xfrm>
            <a:off x="831960" y="3959280"/>
            <a:ext cx="4935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080" b="1" u="none" strike="noStrike" noProof="0" dirty="0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03</a:t>
            </a:r>
            <a:endParaRPr lang="pt-BR" sz="108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5"/>
          <p:cNvSpPr/>
          <p:nvPr/>
        </p:nvSpPr>
        <p:spPr>
          <a:xfrm>
            <a:off x="1572840" y="3785760"/>
            <a:ext cx="55591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720" b="1" u="none" strike="noStrike" noProof="0" dirty="0">
                <a:solidFill>
                  <a:srgbClr val="111827"/>
                </a:solidFill>
                <a:effectLst/>
                <a:uFillTx/>
                <a:latin typeface="Aptos Display"/>
                <a:ea typeface="Aptos Display"/>
              </a:rPr>
              <a:t>Existe um ponto de ruptura?</a:t>
            </a:r>
            <a:endParaRPr lang="pt-BR" sz="172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6"/>
          <p:cNvSpPr/>
          <p:nvPr/>
        </p:nvSpPr>
        <p:spPr>
          <a:xfrm>
            <a:off x="1572840" y="4151520"/>
            <a:ext cx="54403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060" b="0" u="none" strike="noStrike" noProof="0" dirty="0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Quando a experiência passa de risco para zona crítica.</a:t>
            </a:r>
            <a:endParaRPr lang="pt-BR" sz="106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17"/>
          <p:cNvSpPr/>
          <p:nvPr/>
        </p:nvSpPr>
        <p:spPr>
          <a:xfrm>
            <a:off x="831960" y="4700160"/>
            <a:ext cx="493560" cy="493560"/>
          </a:xfrm>
          <a:prstGeom prst="ellipse">
            <a:avLst/>
          </a:prstGeom>
          <a:solidFill>
            <a:srgbClr val="FFFFFF"/>
          </a:solidFill>
          <a:ln w="16560">
            <a:solidFill>
              <a:srgbClr val="B8C3D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8"/>
          <p:cNvSpPr/>
          <p:nvPr/>
        </p:nvSpPr>
        <p:spPr>
          <a:xfrm>
            <a:off x="831960" y="4791600"/>
            <a:ext cx="4935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080" b="1" u="none" strike="noStrike" noProof="0" dirty="0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04</a:t>
            </a:r>
            <a:endParaRPr lang="pt-BR" sz="108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9"/>
          <p:cNvSpPr/>
          <p:nvPr/>
        </p:nvSpPr>
        <p:spPr>
          <a:xfrm>
            <a:off x="1572840" y="4617720"/>
            <a:ext cx="55591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720" b="1" u="none" strike="noStrike" noProof="0" dirty="0">
                <a:solidFill>
                  <a:srgbClr val="111827"/>
                </a:solidFill>
                <a:effectLst/>
                <a:uFillTx/>
                <a:latin typeface="Aptos Display"/>
                <a:ea typeface="Aptos Display"/>
              </a:rPr>
              <a:t>Que experiência tende a NPS alto?</a:t>
            </a:r>
            <a:endParaRPr lang="pt-BR" sz="172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20"/>
          <p:cNvSpPr/>
          <p:nvPr/>
        </p:nvSpPr>
        <p:spPr>
          <a:xfrm>
            <a:off x="1572840" y="4983480"/>
            <a:ext cx="54403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060" b="0" u="none" strike="noStrike" noProof="0" dirty="0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O que diferencia promotores de detratores.</a:t>
            </a:r>
            <a:endParaRPr lang="pt-BR" sz="106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21"/>
          <p:cNvSpPr/>
          <p:nvPr/>
        </p:nvSpPr>
        <p:spPr>
          <a:xfrm>
            <a:off x="7699320" y="2157840"/>
            <a:ext cx="3794400" cy="3364560"/>
          </a:xfrm>
          <a:prstGeom prst="roundRect">
            <a:avLst>
              <a:gd name="adj" fmla="val 1630"/>
            </a:avLst>
          </a:prstGeom>
          <a:solidFill>
            <a:srgbClr val="091220"/>
          </a:solidFill>
          <a:ln w="12600">
            <a:solidFill>
              <a:srgbClr val="0912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22"/>
          <p:cNvSpPr/>
          <p:nvPr/>
        </p:nvSpPr>
        <p:spPr>
          <a:xfrm>
            <a:off x="8010000" y="2487240"/>
            <a:ext cx="30171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939" b="1" u="none" strike="noStrike" spc="116" noProof="0" dirty="0">
                <a:solidFill>
                  <a:srgbClr val="25C7E5"/>
                </a:solidFill>
                <a:effectLst/>
                <a:uFillTx/>
                <a:latin typeface="Aptos"/>
                <a:ea typeface="Aptos"/>
              </a:rPr>
              <a:t>O QUE ESSAS RESPOSTAS HABILITAM</a:t>
            </a:r>
            <a:endParaRPr lang="pt-BR" sz="939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23"/>
          <p:cNvSpPr/>
          <p:nvPr/>
        </p:nvSpPr>
        <p:spPr>
          <a:xfrm>
            <a:off x="8010000" y="2944440"/>
            <a:ext cx="2739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1" u="none" strike="noStrike" noProof="0" dirty="0">
                <a:solidFill>
                  <a:srgbClr val="25C7E5"/>
                </a:solidFill>
                <a:effectLst/>
                <a:uFillTx/>
                <a:latin typeface="Aptos"/>
                <a:ea typeface="Aptos"/>
              </a:rPr>
              <a:t>1</a:t>
            </a:r>
            <a:endParaRPr lang="pt-BR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24"/>
          <p:cNvSpPr/>
          <p:nvPr/>
        </p:nvSpPr>
        <p:spPr>
          <a:xfrm>
            <a:off x="8430840" y="2926080"/>
            <a:ext cx="1078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620" b="1" u="none" strike="noStrike" noProof="0" dirty="0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Detectar</a:t>
            </a:r>
            <a:endParaRPr lang="pt-BR" sz="162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25"/>
          <p:cNvSpPr/>
          <p:nvPr/>
        </p:nvSpPr>
        <p:spPr>
          <a:xfrm>
            <a:off x="9528120" y="2935080"/>
            <a:ext cx="149004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980" b="0" u="none" strike="noStrike" noProof="0" dirty="0">
                <a:solidFill>
                  <a:srgbClr val="A7B4C5"/>
                </a:solidFill>
                <a:effectLst/>
                <a:uFillTx/>
                <a:latin typeface="Aptos"/>
                <a:ea typeface="Aptos"/>
              </a:rPr>
              <a:t>onde a jornada começa a deteriorar</a:t>
            </a:r>
            <a:endParaRPr lang="pt-BR" sz="98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26"/>
          <p:cNvSpPr/>
          <p:nvPr/>
        </p:nvSpPr>
        <p:spPr>
          <a:xfrm>
            <a:off x="8010000" y="3447000"/>
            <a:ext cx="2788920" cy="360"/>
          </a:xfrm>
          <a:prstGeom prst="line">
            <a:avLst/>
          </a:prstGeom>
          <a:ln w="12600">
            <a:solidFill>
              <a:srgbClr val="26395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27"/>
          <p:cNvSpPr/>
          <p:nvPr/>
        </p:nvSpPr>
        <p:spPr>
          <a:xfrm>
            <a:off x="8010000" y="3694320"/>
            <a:ext cx="2739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1" u="none" strike="noStrike" noProof="0" dirty="0">
                <a:solidFill>
                  <a:srgbClr val="25C7E5"/>
                </a:solidFill>
                <a:effectLst/>
                <a:uFillTx/>
                <a:latin typeface="Aptos"/>
                <a:ea typeface="Aptos"/>
              </a:rPr>
              <a:t>2</a:t>
            </a:r>
            <a:endParaRPr lang="pt-BR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28"/>
          <p:cNvSpPr/>
          <p:nvPr/>
        </p:nvSpPr>
        <p:spPr>
          <a:xfrm>
            <a:off x="8430840" y="3675960"/>
            <a:ext cx="1078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620" b="1" u="none" strike="noStrike" noProof="0" dirty="0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Priorizar</a:t>
            </a:r>
            <a:endParaRPr lang="pt-BR" sz="162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29"/>
          <p:cNvSpPr/>
          <p:nvPr/>
        </p:nvSpPr>
        <p:spPr>
          <a:xfrm>
            <a:off x="9528120" y="3684960"/>
            <a:ext cx="149004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980" b="0" u="none" strike="noStrike" noProof="0" dirty="0">
                <a:solidFill>
                  <a:srgbClr val="A7B4C5"/>
                </a:solidFill>
                <a:effectLst/>
                <a:uFillTx/>
                <a:latin typeface="Aptos"/>
                <a:ea typeface="Aptos"/>
              </a:rPr>
              <a:t>ações com maior impacto operacional</a:t>
            </a:r>
            <a:endParaRPr lang="pt-BR" sz="98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30"/>
          <p:cNvSpPr/>
          <p:nvPr/>
        </p:nvSpPr>
        <p:spPr>
          <a:xfrm>
            <a:off x="8010000" y="4196880"/>
            <a:ext cx="2788920" cy="360"/>
          </a:xfrm>
          <a:prstGeom prst="line">
            <a:avLst/>
          </a:prstGeom>
          <a:ln w="12600">
            <a:solidFill>
              <a:srgbClr val="26395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31"/>
          <p:cNvSpPr/>
          <p:nvPr/>
        </p:nvSpPr>
        <p:spPr>
          <a:xfrm>
            <a:off x="8010000" y="4443840"/>
            <a:ext cx="2739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1" u="none" strike="noStrike" noProof="0" dirty="0">
                <a:solidFill>
                  <a:srgbClr val="25C7E5"/>
                </a:solidFill>
                <a:effectLst/>
                <a:uFillTx/>
                <a:latin typeface="Aptos"/>
                <a:ea typeface="Aptos"/>
              </a:rPr>
              <a:t>3</a:t>
            </a:r>
            <a:endParaRPr lang="pt-BR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32"/>
          <p:cNvSpPr/>
          <p:nvPr/>
        </p:nvSpPr>
        <p:spPr>
          <a:xfrm>
            <a:off x="8430840" y="4425840"/>
            <a:ext cx="1078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620" b="1" u="none" strike="noStrike" noProof="0" dirty="0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Preparar</a:t>
            </a:r>
            <a:endParaRPr lang="pt-BR" sz="162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33"/>
          <p:cNvSpPr/>
          <p:nvPr/>
        </p:nvSpPr>
        <p:spPr>
          <a:xfrm>
            <a:off x="9528120" y="4434840"/>
            <a:ext cx="149004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980" b="0" u="none" strike="noStrike" noProof="0" dirty="0">
                <a:solidFill>
                  <a:srgbClr val="A7B4C5"/>
                </a:solidFill>
                <a:effectLst/>
                <a:uFillTx/>
                <a:latin typeface="Aptos"/>
                <a:ea typeface="Aptos"/>
              </a:rPr>
              <a:t>a futura modelagem preditiva</a:t>
            </a:r>
            <a:endParaRPr lang="pt-BR" sz="98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34"/>
          <p:cNvSpPr/>
          <p:nvPr/>
        </p:nvSpPr>
        <p:spPr>
          <a:xfrm>
            <a:off x="8010000" y="5148000"/>
            <a:ext cx="28159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850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050" b="1" u="none" strike="noStrike" noProof="0" dirty="0">
                <a:solidFill>
                  <a:srgbClr val="87E5F2"/>
                </a:solidFill>
                <a:effectLst/>
                <a:uFillTx/>
                <a:latin typeface="Aptos"/>
                <a:ea typeface="Aptos"/>
              </a:rPr>
              <a:t>A lógica é simples: pergunta → evidência → decisão.</a:t>
            </a:r>
            <a:endParaRPr lang="pt-BR" sz="10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35"/>
          <p:cNvSpPr/>
          <p:nvPr/>
        </p:nvSpPr>
        <p:spPr>
          <a:xfrm>
            <a:off x="658440" y="6501240"/>
            <a:ext cx="37486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850" b="0" u="none" strike="noStrike" noProof="0" dirty="0">
                <a:solidFill>
                  <a:srgbClr val="98A2B3"/>
                </a:solidFill>
                <a:effectLst/>
                <a:uFillTx/>
                <a:latin typeface="Aptos"/>
                <a:ea typeface="Aptos"/>
              </a:rPr>
              <a:t>NPS Preditivo  ·  Tech Challenge Fase 1</a:t>
            </a:r>
            <a:endParaRPr lang="pt-BR" sz="8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36"/>
          <p:cNvSpPr/>
          <p:nvPr/>
        </p:nvSpPr>
        <p:spPr>
          <a:xfrm>
            <a:off x="11137320" y="6473880"/>
            <a:ext cx="3837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850" b="0" u="none" strike="noStrike" noProof="0" dirty="0">
                <a:solidFill>
                  <a:srgbClr val="98A2B3"/>
                </a:solidFill>
                <a:effectLst/>
                <a:uFillTx/>
                <a:latin typeface="Aptos"/>
                <a:ea typeface="Aptos"/>
              </a:rPr>
              <a:t>02</a:t>
            </a:r>
            <a:endParaRPr lang="pt-BR" sz="8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 0"/>
          <p:cNvSpPr/>
          <p:nvPr/>
        </p:nvSpPr>
        <p:spPr>
          <a:xfrm>
            <a:off x="658440" y="384120"/>
            <a:ext cx="43887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950" b="1" u="none" strike="noStrike" spc="170" noProof="0" dirty="0">
                <a:solidFill>
                  <a:srgbClr val="25C7E5"/>
                </a:solidFill>
                <a:effectLst/>
                <a:uFillTx/>
                <a:latin typeface="Aptos"/>
                <a:ea typeface="Aptos"/>
              </a:rPr>
              <a:t>PARTE 2 · DADOS</a:t>
            </a:r>
            <a:endParaRPr lang="pt-B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"/>
          <p:cNvSpPr/>
          <p:nvPr/>
        </p:nvSpPr>
        <p:spPr>
          <a:xfrm>
            <a:off x="658440" y="786240"/>
            <a:ext cx="1088100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900" b="1" u="none" strike="noStrike" noProof="0" dirty="0">
                <a:solidFill>
                  <a:srgbClr val="111827"/>
                </a:solidFill>
                <a:effectLst/>
                <a:uFillTx/>
                <a:latin typeface="Aptos Display"/>
                <a:ea typeface="Aptos Display"/>
              </a:rPr>
              <a:t>A base acompanha a experiência ponta a ponta — do pedido à satisfação.</a:t>
            </a:r>
            <a:endParaRPr lang="pt-BR" sz="29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2"/>
          <p:cNvSpPr/>
          <p:nvPr/>
        </p:nvSpPr>
        <p:spPr>
          <a:xfrm>
            <a:off x="658440" y="1572840"/>
            <a:ext cx="106066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10" b="0" u="none" strike="noStrike" noProof="0" dirty="0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2.500 pedidos e 19 variáveis originais, com cobertura completa na base bruta.</a:t>
            </a:r>
            <a:endParaRPr lang="pt-BR" sz="121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3"/>
          <p:cNvSpPr/>
          <p:nvPr/>
        </p:nvSpPr>
        <p:spPr>
          <a:xfrm>
            <a:off x="658440" y="2176200"/>
            <a:ext cx="123408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900" b="1" u="none" strike="noStrike" noProof="0" dirty="0">
                <a:solidFill>
                  <a:srgbClr val="4F7DF3"/>
                </a:solidFill>
                <a:effectLst/>
                <a:uFillTx/>
                <a:latin typeface="Aptos Display"/>
                <a:ea typeface="Aptos Display"/>
              </a:rPr>
              <a:t>2.500</a:t>
            </a:r>
            <a:endParaRPr lang="pt-BR" sz="29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4"/>
          <p:cNvSpPr/>
          <p:nvPr/>
        </p:nvSpPr>
        <p:spPr>
          <a:xfrm>
            <a:off x="658440" y="2660760"/>
            <a:ext cx="14626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020" b="1" u="none" strike="noStrike" noProof="0" dirty="0">
                <a:solidFill>
                  <a:srgbClr val="273142"/>
                </a:solidFill>
                <a:effectLst/>
                <a:uFillTx/>
                <a:latin typeface="Aptos"/>
                <a:ea typeface="Aptos"/>
              </a:rPr>
              <a:t>pedidos</a:t>
            </a:r>
            <a:endParaRPr lang="pt-BR" sz="102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5"/>
          <p:cNvSpPr/>
          <p:nvPr/>
        </p:nvSpPr>
        <p:spPr>
          <a:xfrm>
            <a:off x="2075400" y="2212560"/>
            <a:ext cx="360" cy="640080"/>
          </a:xfrm>
          <a:prstGeom prst="line">
            <a:avLst/>
          </a:prstGeom>
          <a:ln w="12600">
            <a:solidFill>
              <a:srgbClr val="DDE2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6"/>
          <p:cNvSpPr/>
          <p:nvPr/>
        </p:nvSpPr>
        <p:spPr>
          <a:xfrm>
            <a:off x="2286000" y="2176200"/>
            <a:ext cx="123408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900" b="1" u="none" strike="noStrike" noProof="0" dirty="0">
                <a:solidFill>
                  <a:srgbClr val="25C7E5"/>
                </a:solidFill>
                <a:effectLst/>
                <a:uFillTx/>
                <a:latin typeface="Aptos Display"/>
                <a:ea typeface="Aptos Display"/>
              </a:rPr>
              <a:t>19</a:t>
            </a:r>
            <a:endParaRPr lang="pt-BR" sz="29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7"/>
          <p:cNvSpPr/>
          <p:nvPr/>
        </p:nvSpPr>
        <p:spPr>
          <a:xfrm>
            <a:off x="2286000" y="2660760"/>
            <a:ext cx="14626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020" b="1" u="none" strike="noStrike" noProof="0" dirty="0">
                <a:solidFill>
                  <a:srgbClr val="273142"/>
                </a:solidFill>
                <a:effectLst/>
                <a:uFillTx/>
                <a:latin typeface="Aptos"/>
                <a:ea typeface="Aptos"/>
              </a:rPr>
              <a:t>variáveis originais</a:t>
            </a:r>
            <a:endParaRPr lang="pt-BR" sz="102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8"/>
          <p:cNvSpPr/>
          <p:nvPr/>
        </p:nvSpPr>
        <p:spPr>
          <a:xfrm>
            <a:off x="3703320" y="2212560"/>
            <a:ext cx="360" cy="640080"/>
          </a:xfrm>
          <a:prstGeom prst="line">
            <a:avLst/>
          </a:prstGeom>
          <a:ln w="12600">
            <a:solidFill>
              <a:srgbClr val="DDE2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9"/>
          <p:cNvSpPr/>
          <p:nvPr/>
        </p:nvSpPr>
        <p:spPr>
          <a:xfrm>
            <a:off x="4023360" y="2176200"/>
            <a:ext cx="123408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900" b="1" u="none" strike="noStrike" noProof="0" dirty="0">
                <a:solidFill>
                  <a:srgbClr val="27A77A"/>
                </a:solidFill>
                <a:effectLst/>
                <a:uFillTx/>
                <a:latin typeface="Aptos Display"/>
                <a:ea typeface="Aptos Display"/>
              </a:rPr>
              <a:t>0</a:t>
            </a:r>
            <a:endParaRPr lang="pt-BR" sz="29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0"/>
          <p:cNvSpPr/>
          <p:nvPr/>
        </p:nvSpPr>
        <p:spPr>
          <a:xfrm>
            <a:off x="4023360" y="2660760"/>
            <a:ext cx="14626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020" b="1" u="none" strike="noStrike" noProof="0" dirty="0">
                <a:solidFill>
                  <a:srgbClr val="273142"/>
                </a:solidFill>
                <a:effectLst/>
                <a:uFillTx/>
                <a:latin typeface="Aptos"/>
                <a:ea typeface="Aptos"/>
              </a:rPr>
              <a:t>valores ausentes</a:t>
            </a:r>
            <a:endParaRPr lang="pt-BR" sz="102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11"/>
          <p:cNvSpPr/>
          <p:nvPr/>
        </p:nvSpPr>
        <p:spPr>
          <a:xfrm>
            <a:off x="5440680" y="2212560"/>
            <a:ext cx="360" cy="640080"/>
          </a:xfrm>
          <a:prstGeom prst="line">
            <a:avLst/>
          </a:prstGeom>
          <a:ln w="12600">
            <a:solidFill>
              <a:srgbClr val="DDE2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2"/>
          <p:cNvSpPr/>
          <p:nvPr/>
        </p:nvSpPr>
        <p:spPr>
          <a:xfrm>
            <a:off x="5687640" y="2176200"/>
            <a:ext cx="123408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900" b="1" u="none" strike="noStrike" noProof="0" dirty="0">
                <a:solidFill>
                  <a:srgbClr val="27A77A"/>
                </a:solidFill>
                <a:effectLst/>
                <a:uFillTx/>
                <a:latin typeface="Aptos Display"/>
                <a:ea typeface="Aptos Display"/>
              </a:rPr>
              <a:t>0</a:t>
            </a:r>
            <a:endParaRPr lang="pt-BR" sz="29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13"/>
          <p:cNvSpPr/>
          <p:nvPr/>
        </p:nvSpPr>
        <p:spPr>
          <a:xfrm>
            <a:off x="5687640" y="2660760"/>
            <a:ext cx="14626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020" b="1" u="none" strike="noStrike" noProof="0" dirty="0">
                <a:solidFill>
                  <a:srgbClr val="273142"/>
                </a:solidFill>
                <a:effectLst/>
                <a:uFillTx/>
                <a:latin typeface="Aptos"/>
                <a:ea typeface="Aptos"/>
              </a:rPr>
              <a:t>duplicidades</a:t>
            </a:r>
            <a:endParaRPr lang="pt-BR" sz="102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14"/>
          <p:cNvSpPr/>
          <p:nvPr/>
        </p:nvSpPr>
        <p:spPr>
          <a:xfrm>
            <a:off x="7571160" y="2304360"/>
            <a:ext cx="2331360" cy="292320"/>
          </a:xfrm>
          <a:prstGeom prst="roundRect">
            <a:avLst>
              <a:gd name="adj" fmla="val 50000"/>
            </a:avLst>
          </a:prstGeom>
          <a:solidFill>
            <a:srgbClr val="EDF2FF"/>
          </a:solidFill>
          <a:ln w="12600">
            <a:solidFill>
              <a:srgbClr val="EDF2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15"/>
          <p:cNvSpPr/>
          <p:nvPr/>
        </p:nvSpPr>
        <p:spPr>
          <a:xfrm>
            <a:off x="7644240" y="2322720"/>
            <a:ext cx="218520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930" b="1" u="none" strike="noStrike" noProof="0" dirty="0">
                <a:solidFill>
                  <a:srgbClr val="4F7DF3"/>
                </a:solidFill>
                <a:effectLst/>
                <a:uFillTx/>
                <a:latin typeface="Aptos"/>
                <a:ea typeface="Aptos"/>
              </a:rPr>
              <a:t>unidade de análise: pedido</a:t>
            </a:r>
            <a:endParaRPr lang="pt-BR" sz="93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16"/>
          <p:cNvSpPr/>
          <p:nvPr/>
        </p:nvSpPr>
        <p:spPr>
          <a:xfrm>
            <a:off x="960120" y="3721320"/>
            <a:ext cx="9857160" cy="360"/>
          </a:xfrm>
          <a:prstGeom prst="line">
            <a:avLst/>
          </a:prstGeom>
          <a:ln w="28080">
            <a:solidFill>
              <a:srgbClr val="D6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17"/>
          <p:cNvSpPr/>
          <p:nvPr/>
        </p:nvSpPr>
        <p:spPr>
          <a:xfrm>
            <a:off x="804600" y="3493080"/>
            <a:ext cx="438480" cy="438480"/>
          </a:xfrm>
          <a:prstGeom prst="ellipse">
            <a:avLst/>
          </a:prstGeom>
          <a:solidFill>
            <a:srgbClr val="EAF9FC"/>
          </a:solidFill>
          <a:ln w="15120">
            <a:solidFill>
              <a:srgbClr val="25C7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18"/>
          <p:cNvSpPr/>
          <p:nvPr/>
        </p:nvSpPr>
        <p:spPr>
          <a:xfrm>
            <a:off x="932760" y="3630240"/>
            <a:ext cx="182520" cy="155160"/>
          </a:xfrm>
          <a:prstGeom prst="rect">
            <a:avLst/>
          </a:prstGeom>
          <a:noFill/>
          <a:ln w="17640">
            <a:solidFill>
              <a:srgbClr val="25C7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19"/>
          <p:cNvSpPr/>
          <p:nvPr/>
        </p:nvSpPr>
        <p:spPr>
          <a:xfrm>
            <a:off x="960120" y="3675600"/>
            <a:ext cx="127800" cy="360"/>
          </a:xfrm>
          <a:prstGeom prst="line">
            <a:avLst/>
          </a:prstGeom>
          <a:ln w="12600">
            <a:solidFill>
              <a:srgbClr val="25C7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20"/>
          <p:cNvSpPr/>
          <p:nvPr/>
        </p:nvSpPr>
        <p:spPr>
          <a:xfrm>
            <a:off x="621720" y="4105800"/>
            <a:ext cx="11426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980" b="1" u="none" strike="noStrike" spc="79" noProof="0" dirty="0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PEDIDO</a:t>
            </a:r>
            <a:endParaRPr lang="pt-BR" sz="98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21"/>
          <p:cNvSpPr/>
          <p:nvPr/>
        </p:nvSpPr>
        <p:spPr>
          <a:xfrm>
            <a:off x="402480" y="4416480"/>
            <a:ext cx="15998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010" b="0" u="none" strike="noStrike" noProof="0" dirty="0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valor · itens</a:t>
            </a:r>
            <a:endParaRPr lang="pt-BR" sz="101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010" b="0" u="none" strike="noStrike" noProof="0" dirty="0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desconto · parcelas</a:t>
            </a:r>
            <a:endParaRPr lang="pt-BR" sz="101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22"/>
          <p:cNvSpPr/>
          <p:nvPr/>
        </p:nvSpPr>
        <p:spPr>
          <a:xfrm>
            <a:off x="3310200" y="3493080"/>
            <a:ext cx="438480" cy="438480"/>
          </a:xfrm>
          <a:prstGeom prst="ellipse">
            <a:avLst/>
          </a:prstGeom>
          <a:solidFill>
            <a:srgbClr val="EAF9FC"/>
          </a:solidFill>
          <a:ln w="15120">
            <a:solidFill>
              <a:srgbClr val="25C7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23"/>
          <p:cNvSpPr/>
          <p:nvPr/>
        </p:nvSpPr>
        <p:spPr>
          <a:xfrm flipV="1">
            <a:off x="3429000" y="3657600"/>
            <a:ext cx="200880" cy="118800"/>
          </a:xfrm>
          <a:prstGeom prst="line">
            <a:avLst/>
          </a:prstGeom>
          <a:ln w="20160">
            <a:solidFill>
              <a:srgbClr val="25C7E5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24"/>
          <p:cNvSpPr/>
          <p:nvPr/>
        </p:nvSpPr>
        <p:spPr>
          <a:xfrm>
            <a:off x="3420000" y="3767400"/>
            <a:ext cx="45360" cy="45360"/>
          </a:xfrm>
          <a:prstGeom prst="ellipse">
            <a:avLst/>
          </a:prstGeom>
          <a:solidFill>
            <a:srgbClr val="25C7E5"/>
          </a:solidFill>
          <a:ln w="12600">
            <a:solidFill>
              <a:srgbClr val="25C7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2600" rIns="90000" bIns="-12600" anchor="t">
            <a:noAutofit/>
          </a:bodyPr>
          <a:lstStyle/>
          <a:p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25"/>
          <p:cNvSpPr/>
          <p:nvPr/>
        </p:nvSpPr>
        <p:spPr>
          <a:xfrm>
            <a:off x="3127320" y="4105800"/>
            <a:ext cx="11426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980" b="1" u="none" strike="noStrike" spc="79" noProof="0" dirty="0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LOGÍSTICA</a:t>
            </a:r>
            <a:endParaRPr lang="pt-BR" sz="98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26"/>
          <p:cNvSpPr/>
          <p:nvPr/>
        </p:nvSpPr>
        <p:spPr>
          <a:xfrm>
            <a:off x="2907720" y="4416480"/>
            <a:ext cx="15998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010" b="0" u="none" strike="noStrike" noProof="0" dirty="0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tempo · atraso</a:t>
            </a:r>
            <a:endParaRPr lang="pt-BR" sz="101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010" b="0" u="none" strike="noStrike" noProof="0" dirty="0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tentativas · frete</a:t>
            </a:r>
            <a:endParaRPr lang="pt-BR" sz="101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27"/>
          <p:cNvSpPr/>
          <p:nvPr/>
        </p:nvSpPr>
        <p:spPr>
          <a:xfrm>
            <a:off x="5815440" y="3493080"/>
            <a:ext cx="438480" cy="438480"/>
          </a:xfrm>
          <a:prstGeom prst="ellipse">
            <a:avLst/>
          </a:prstGeom>
          <a:solidFill>
            <a:srgbClr val="EAF9FC"/>
          </a:solidFill>
          <a:ln w="15120">
            <a:solidFill>
              <a:srgbClr val="25C7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28"/>
          <p:cNvSpPr/>
          <p:nvPr/>
        </p:nvSpPr>
        <p:spPr>
          <a:xfrm>
            <a:off x="5925240" y="3620880"/>
            <a:ext cx="219240" cy="155160"/>
          </a:xfrm>
          <a:prstGeom prst="roundRect">
            <a:avLst>
              <a:gd name="adj" fmla="val 23529"/>
            </a:avLst>
          </a:prstGeom>
          <a:noFill/>
          <a:ln w="15120">
            <a:solidFill>
              <a:srgbClr val="25C7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29"/>
          <p:cNvSpPr/>
          <p:nvPr/>
        </p:nvSpPr>
        <p:spPr>
          <a:xfrm flipH="1">
            <a:off x="5943600" y="3776400"/>
            <a:ext cx="36360" cy="54720"/>
          </a:xfrm>
          <a:prstGeom prst="line">
            <a:avLst/>
          </a:prstGeom>
          <a:ln w="15120">
            <a:solidFill>
              <a:srgbClr val="25C7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 anchorCtr="1">
            <a:noAutofit/>
          </a:bodyPr>
          <a:lstStyle/>
          <a:p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30"/>
          <p:cNvSpPr/>
          <p:nvPr/>
        </p:nvSpPr>
        <p:spPr>
          <a:xfrm>
            <a:off x="5632560" y="4105800"/>
            <a:ext cx="11426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980" b="1" u="none" strike="noStrike" spc="79" noProof="0" dirty="0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ATENDIMENTO</a:t>
            </a:r>
            <a:endParaRPr lang="pt-BR" sz="98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31"/>
          <p:cNvSpPr/>
          <p:nvPr/>
        </p:nvSpPr>
        <p:spPr>
          <a:xfrm>
            <a:off x="5413320" y="4416480"/>
            <a:ext cx="15998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010" b="0" u="none" strike="noStrike" noProof="0" dirty="0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contatos · resolução</a:t>
            </a:r>
            <a:endParaRPr lang="pt-BR" sz="101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010" b="0" u="none" strike="noStrike" noProof="0" dirty="0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reclamações</a:t>
            </a:r>
            <a:endParaRPr lang="pt-BR" sz="101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32"/>
          <p:cNvSpPr/>
          <p:nvPr/>
        </p:nvSpPr>
        <p:spPr>
          <a:xfrm>
            <a:off x="8321040" y="3493080"/>
            <a:ext cx="438480" cy="438480"/>
          </a:xfrm>
          <a:prstGeom prst="ellipse">
            <a:avLst/>
          </a:prstGeom>
          <a:solidFill>
            <a:srgbClr val="EAF9FC"/>
          </a:solidFill>
          <a:ln w="15120">
            <a:solidFill>
              <a:srgbClr val="25C7E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33"/>
          <p:cNvSpPr/>
          <p:nvPr/>
        </p:nvSpPr>
        <p:spPr>
          <a:xfrm>
            <a:off x="8375760" y="3547800"/>
            <a:ext cx="328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1" u="none" strike="noStrike" noProof="0" dirty="0">
                <a:solidFill>
                  <a:srgbClr val="25C7E5"/>
                </a:solidFill>
                <a:effectLst/>
                <a:uFillTx/>
                <a:latin typeface="Aptos"/>
                <a:ea typeface="Aptos"/>
              </a:rPr>
              <a:t>9</a:t>
            </a:r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34"/>
          <p:cNvSpPr/>
          <p:nvPr/>
        </p:nvSpPr>
        <p:spPr>
          <a:xfrm>
            <a:off x="8138160" y="4105800"/>
            <a:ext cx="11426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980" b="1" u="none" strike="noStrike" spc="79" noProof="0" dirty="0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SATISFAÇÃO</a:t>
            </a:r>
            <a:endParaRPr lang="pt-BR" sz="98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35"/>
          <p:cNvSpPr/>
          <p:nvPr/>
        </p:nvSpPr>
        <p:spPr>
          <a:xfrm>
            <a:off x="7918560" y="4416480"/>
            <a:ext cx="15998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010" b="0" u="none" strike="noStrike" noProof="0" dirty="0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NPS · CSAT</a:t>
            </a:r>
            <a:endParaRPr lang="pt-BR" sz="101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010" b="0" u="none" strike="noStrike" noProof="0" dirty="0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recompra 30d</a:t>
            </a:r>
            <a:endParaRPr lang="pt-BR" sz="101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36"/>
          <p:cNvSpPr/>
          <p:nvPr/>
        </p:nvSpPr>
        <p:spPr>
          <a:xfrm>
            <a:off x="749880" y="5111640"/>
            <a:ext cx="489168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030" b="0" u="none" strike="noStrike" noProof="0" dirty="0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+ perfil do cliente: idade · região · tempo de relacionamento</a:t>
            </a:r>
            <a:endParaRPr lang="pt-BR" sz="103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37"/>
          <p:cNvSpPr/>
          <p:nvPr/>
        </p:nvSpPr>
        <p:spPr>
          <a:xfrm>
            <a:off x="6784920" y="5056560"/>
            <a:ext cx="7128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920" b="1" u="none" strike="noStrike" spc="99" noProof="0" dirty="0">
                <a:solidFill>
                  <a:srgbClr val="273142"/>
                </a:solidFill>
                <a:effectLst/>
                <a:uFillTx/>
                <a:latin typeface="Aptos"/>
                <a:ea typeface="Aptos"/>
              </a:rPr>
              <a:t>TARGET</a:t>
            </a:r>
            <a:endParaRPr lang="pt-BR" sz="92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38"/>
          <p:cNvSpPr/>
          <p:nvPr/>
        </p:nvSpPr>
        <p:spPr>
          <a:xfrm>
            <a:off x="7571160" y="5029200"/>
            <a:ext cx="13255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160" b="1" u="none" strike="noStrike" noProof="0" dirty="0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NPS SCORE 0–10</a:t>
            </a:r>
            <a:endParaRPr lang="pt-BR" sz="116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39"/>
          <p:cNvSpPr/>
          <p:nvPr/>
        </p:nvSpPr>
        <p:spPr>
          <a:xfrm>
            <a:off x="6784920" y="5504760"/>
            <a:ext cx="1554120" cy="621360"/>
          </a:xfrm>
          <a:prstGeom prst="roundRect">
            <a:avLst>
              <a:gd name="adj" fmla="val 7353"/>
            </a:avLst>
          </a:prstGeom>
          <a:solidFill>
            <a:srgbClr val="FDECEE"/>
          </a:solidFill>
          <a:ln w="12600">
            <a:solidFill>
              <a:srgbClr val="EE5A6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40"/>
          <p:cNvSpPr/>
          <p:nvPr/>
        </p:nvSpPr>
        <p:spPr>
          <a:xfrm>
            <a:off x="6894720" y="5596200"/>
            <a:ext cx="13345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960" b="1" u="none" strike="noStrike" noProof="0" dirty="0">
                <a:solidFill>
                  <a:srgbClr val="EE5A62"/>
                </a:solidFill>
                <a:effectLst/>
                <a:uFillTx/>
                <a:latin typeface="Aptos"/>
                <a:ea typeface="Aptos"/>
              </a:rPr>
              <a:t>Detrator</a:t>
            </a:r>
            <a:endParaRPr lang="pt-BR" sz="96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41"/>
          <p:cNvSpPr/>
          <p:nvPr/>
        </p:nvSpPr>
        <p:spPr>
          <a:xfrm>
            <a:off x="6894720" y="5833800"/>
            <a:ext cx="13345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900" b="0" u="none" strike="noStrike" noProof="0" dirty="0">
                <a:solidFill>
                  <a:srgbClr val="273142"/>
                </a:solidFill>
                <a:effectLst/>
                <a:uFillTx/>
                <a:latin typeface="Aptos"/>
                <a:ea typeface="Aptos"/>
              </a:rPr>
              <a:t>≤ 6</a:t>
            </a:r>
            <a:endParaRPr lang="pt-BR" sz="9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42"/>
          <p:cNvSpPr/>
          <p:nvPr/>
        </p:nvSpPr>
        <p:spPr>
          <a:xfrm>
            <a:off x="8412480" y="5504760"/>
            <a:ext cx="1352880" cy="621360"/>
          </a:xfrm>
          <a:prstGeom prst="roundRect">
            <a:avLst>
              <a:gd name="adj" fmla="val 7353"/>
            </a:avLst>
          </a:prstGeom>
          <a:solidFill>
            <a:srgbClr val="FFF5DF"/>
          </a:solidFill>
          <a:ln w="12600">
            <a:solidFill>
              <a:srgbClr val="F4B6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43"/>
          <p:cNvSpPr/>
          <p:nvPr/>
        </p:nvSpPr>
        <p:spPr>
          <a:xfrm>
            <a:off x="8522280" y="5596200"/>
            <a:ext cx="11336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960" b="1" u="none" strike="noStrike" noProof="0" dirty="0">
                <a:solidFill>
                  <a:srgbClr val="F4B64A"/>
                </a:solidFill>
                <a:effectLst/>
                <a:uFillTx/>
                <a:latin typeface="Aptos"/>
                <a:ea typeface="Aptos"/>
              </a:rPr>
              <a:t>Neutro</a:t>
            </a:r>
            <a:endParaRPr lang="pt-BR" sz="96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44"/>
          <p:cNvSpPr/>
          <p:nvPr/>
        </p:nvSpPr>
        <p:spPr>
          <a:xfrm>
            <a:off x="8522280" y="5833800"/>
            <a:ext cx="1133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900" b="0" u="none" strike="noStrike" noProof="0" dirty="0">
                <a:solidFill>
                  <a:srgbClr val="273142"/>
                </a:solidFill>
                <a:effectLst/>
                <a:uFillTx/>
                <a:latin typeface="Aptos"/>
                <a:ea typeface="Aptos"/>
              </a:rPr>
              <a:t>&gt; 6 a ≤ 8</a:t>
            </a:r>
            <a:endParaRPr lang="pt-BR" sz="9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45"/>
          <p:cNvSpPr/>
          <p:nvPr/>
        </p:nvSpPr>
        <p:spPr>
          <a:xfrm>
            <a:off x="9838800" y="5504760"/>
            <a:ext cx="1462680" cy="621360"/>
          </a:xfrm>
          <a:prstGeom prst="roundRect">
            <a:avLst>
              <a:gd name="adj" fmla="val 7353"/>
            </a:avLst>
          </a:prstGeom>
          <a:solidFill>
            <a:srgbClr val="E9F7F1"/>
          </a:solidFill>
          <a:ln w="12600">
            <a:solidFill>
              <a:srgbClr val="27A77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46"/>
          <p:cNvSpPr/>
          <p:nvPr/>
        </p:nvSpPr>
        <p:spPr>
          <a:xfrm>
            <a:off x="9948600" y="5596200"/>
            <a:ext cx="12430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960" b="1" u="none" strike="noStrike" noProof="0" dirty="0">
                <a:solidFill>
                  <a:srgbClr val="27A77A"/>
                </a:solidFill>
                <a:effectLst/>
                <a:uFillTx/>
                <a:latin typeface="Aptos"/>
                <a:ea typeface="Aptos"/>
              </a:rPr>
              <a:t>Promotor</a:t>
            </a:r>
            <a:endParaRPr lang="pt-BR" sz="96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47"/>
          <p:cNvSpPr/>
          <p:nvPr/>
        </p:nvSpPr>
        <p:spPr>
          <a:xfrm>
            <a:off x="9948600" y="5833800"/>
            <a:ext cx="12430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900" b="0" u="none" strike="noStrike" noProof="0" dirty="0">
                <a:solidFill>
                  <a:srgbClr val="273142"/>
                </a:solidFill>
                <a:effectLst/>
                <a:uFillTx/>
                <a:latin typeface="Aptos"/>
                <a:ea typeface="Aptos"/>
              </a:rPr>
              <a:t>&gt; 8</a:t>
            </a:r>
            <a:endParaRPr lang="pt-BR" sz="9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48"/>
          <p:cNvSpPr/>
          <p:nvPr/>
        </p:nvSpPr>
        <p:spPr>
          <a:xfrm>
            <a:off x="658440" y="6501240"/>
            <a:ext cx="37486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850" b="0" u="none" strike="noStrike" noProof="0" dirty="0">
                <a:solidFill>
                  <a:srgbClr val="98A2B3"/>
                </a:solidFill>
                <a:effectLst/>
                <a:uFillTx/>
                <a:latin typeface="Aptos"/>
                <a:ea typeface="Aptos"/>
              </a:rPr>
              <a:t>NPS Preditivo  ·  Tech Challenge Fase 1</a:t>
            </a:r>
            <a:endParaRPr lang="pt-BR" sz="8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49"/>
          <p:cNvSpPr/>
          <p:nvPr/>
        </p:nvSpPr>
        <p:spPr>
          <a:xfrm>
            <a:off x="11137320" y="6473880"/>
            <a:ext cx="3837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850" b="0" u="none" strike="noStrike" noProof="0" dirty="0">
                <a:solidFill>
                  <a:srgbClr val="98A2B3"/>
                </a:solidFill>
                <a:effectLst/>
                <a:uFillTx/>
                <a:latin typeface="Aptos"/>
                <a:ea typeface="Aptos"/>
              </a:rPr>
              <a:t>03</a:t>
            </a:r>
            <a:endParaRPr lang="pt-BR" sz="8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ext 0"/>
          <p:cNvSpPr/>
          <p:nvPr/>
        </p:nvSpPr>
        <p:spPr>
          <a:xfrm>
            <a:off x="658440" y="384120"/>
            <a:ext cx="43887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950" b="1" u="none" strike="noStrike" spc="170" noProof="0" dirty="0">
                <a:solidFill>
                  <a:srgbClr val="25C7E5"/>
                </a:solidFill>
                <a:effectLst/>
                <a:uFillTx/>
                <a:latin typeface="Aptos"/>
                <a:ea typeface="Aptos"/>
              </a:rPr>
              <a:t>PARTE 2 · QUALIDADE &amp; PREPARAÇÃO</a:t>
            </a:r>
            <a:endParaRPr lang="pt-BR" sz="95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1"/>
          <p:cNvSpPr/>
          <p:nvPr/>
        </p:nvSpPr>
        <p:spPr>
          <a:xfrm>
            <a:off x="658440" y="786240"/>
            <a:ext cx="10881000" cy="840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10000"/>
          </a:bodyPr>
          <a:lstStyle/>
          <a:p>
            <a:pPr>
              <a:tabLst>
                <a:tab pos="0" algn="l"/>
              </a:tabLst>
            </a:pPr>
            <a:r>
              <a:rPr lang="pt-BR" sz="2900" b="1" u="none" strike="noStrike" noProof="0" dirty="0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11,9% da base foi isolada para auditoria, garantindo uma análise baseada apenas em dados consistentes e rastreáveis.</a:t>
            </a:r>
            <a:endParaRPr lang="pt-BR" sz="29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2"/>
          <p:cNvSpPr/>
          <p:nvPr/>
        </p:nvSpPr>
        <p:spPr>
          <a:xfrm>
            <a:off x="658440" y="1572840"/>
            <a:ext cx="106066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10" b="0" u="none" strike="noStrike" noProof="0" dirty="0">
                <a:solidFill>
                  <a:srgbClr val="9FB0C6"/>
                </a:solidFill>
                <a:effectLst/>
                <a:uFillTx/>
                <a:latin typeface="Aptos"/>
                <a:ea typeface="Aptos"/>
              </a:rPr>
              <a:t>A decisão preserva rastreabilidade: a EDA usa 2.202 pedidos e mantém os casos críticos separados para auditoria.</a:t>
            </a:r>
            <a:endParaRPr lang="pt-BR" sz="121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3"/>
          <p:cNvSpPr/>
          <p:nvPr/>
        </p:nvSpPr>
        <p:spPr>
          <a:xfrm>
            <a:off x="658440" y="2212920"/>
            <a:ext cx="10969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939" b="1" u="none" strike="noStrike" spc="130" noProof="0" dirty="0">
                <a:solidFill>
                  <a:srgbClr val="25C7E5"/>
                </a:solidFill>
                <a:effectLst/>
                <a:uFillTx/>
                <a:latin typeface="Aptos"/>
                <a:ea typeface="Aptos"/>
              </a:rPr>
              <a:t>TRATAMENTO</a:t>
            </a:r>
            <a:endParaRPr lang="pt-BR" sz="939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4"/>
          <p:cNvSpPr/>
          <p:nvPr/>
        </p:nvSpPr>
        <p:spPr>
          <a:xfrm>
            <a:off x="658440" y="2541960"/>
            <a:ext cx="13255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3100" b="1" u="none" strike="noStrike" noProof="0" dirty="0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2.500</a:t>
            </a:r>
            <a:endParaRPr lang="pt-BR" sz="31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5"/>
          <p:cNvSpPr/>
          <p:nvPr/>
        </p:nvSpPr>
        <p:spPr>
          <a:xfrm>
            <a:off x="658440" y="3054240"/>
            <a:ext cx="14169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070" b="1" u="none" strike="noStrike" noProof="0" dirty="0">
                <a:solidFill>
                  <a:srgbClr val="A6B4C6"/>
                </a:solidFill>
                <a:effectLst/>
                <a:uFillTx/>
                <a:latin typeface="Aptos"/>
                <a:ea typeface="Aptos"/>
              </a:rPr>
              <a:t>base original</a:t>
            </a:r>
            <a:endParaRPr lang="pt-BR" sz="107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6"/>
          <p:cNvSpPr/>
          <p:nvPr/>
        </p:nvSpPr>
        <p:spPr>
          <a:xfrm>
            <a:off x="2212560" y="2816280"/>
            <a:ext cx="1051560" cy="360"/>
          </a:xfrm>
          <a:prstGeom prst="line">
            <a:avLst/>
          </a:prstGeom>
          <a:ln w="25560">
            <a:solidFill>
              <a:srgbClr val="25C7E5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t-B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7"/>
          <p:cNvSpPr/>
          <p:nvPr/>
        </p:nvSpPr>
        <p:spPr>
          <a:xfrm>
            <a:off x="3502080" y="2541960"/>
            <a:ext cx="10512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3100" b="1" u="none" strike="noStrike" noProof="0" dirty="0">
                <a:solidFill>
                  <a:srgbClr val="EE5A62"/>
                </a:solidFill>
                <a:effectLst/>
                <a:uFillTx/>
                <a:latin typeface="Aptos Display"/>
                <a:ea typeface="Aptos Display"/>
              </a:rPr>
              <a:t>298</a:t>
            </a:r>
            <a:endParaRPr lang="pt-BR" sz="31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8"/>
          <p:cNvSpPr/>
          <p:nvPr/>
        </p:nvSpPr>
        <p:spPr>
          <a:xfrm>
            <a:off x="3502080" y="3054240"/>
            <a:ext cx="11426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070" b="1" u="none" strike="noStrike" noProof="0" dirty="0">
                <a:solidFill>
                  <a:srgbClr val="F6A5AA"/>
                </a:solidFill>
                <a:effectLst/>
                <a:uFillTx/>
                <a:latin typeface="Aptos"/>
                <a:ea typeface="Aptos"/>
              </a:rPr>
              <a:t>quarentena</a:t>
            </a:r>
            <a:endParaRPr lang="pt-BR" sz="107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9"/>
          <p:cNvSpPr/>
          <p:nvPr/>
        </p:nvSpPr>
        <p:spPr>
          <a:xfrm>
            <a:off x="3502080" y="3282840"/>
            <a:ext cx="11426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010" b="0" u="none" strike="noStrike" noProof="0" dirty="0">
                <a:solidFill>
                  <a:srgbClr val="A6B4C6"/>
                </a:solidFill>
                <a:effectLst/>
                <a:uFillTx/>
                <a:latin typeface="Aptos"/>
                <a:ea typeface="Aptos"/>
              </a:rPr>
              <a:t>11,9%</a:t>
            </a:r>
            <a:endParaRPr lang="pt-BR" sz="101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10"/>
          <p:cNvSpPr/>
          <p:nvPr/>
        </p:nvSpPr>
        <p:spPr>
          <a:xfrm>
            <a:off x="4772880" y="2816280"/>
            <a:ext cx="1051560" cy="360"/>
          </a:xfrm>
          <a:prstGeom prst="line">
            <a:avLst/>
          </a:prstGeom>
          <a:ln w="25560">
            <a:solidFill>
              <a:srgbClr val="25C7E5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t-B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1"/>
          <p:cNvSpPr/>
          <p:nvPr/>
        </p:nvSpPr>
        <p:spPr>
          <a:xfrm>
            <a:off x="6062400" y="2541960"/>
            <a:ext cx="12340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3100" b="1" u="none" strike="noStrike" noProof="0" dirty="0">
                <a:solidFill>
                  <a:srgbClr val="27A77A"/>
                </a:solidFill>
                <a:effectLst/>
                <a:uFillTx/>
                <a:latin typeface="Aptos Display"/>
                <a:ea typeface="Aptos Display"/>
              </a:rPr>
              <a:t>2.202</a:t>
            </a:r>
            <a:endParaRPr lang="pt-BR" sz="31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12"/>
          <p:cNvSpPr/>
          <p:nvPr/>
        </p:nvSpPr>
        <p:spPr>
          <a:xfrm>
            <a:off x="6062400" y="3054240"/>
            <a:ext cx="13255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070" b="1" u="none" strike="noStrike" noProof="0" dirty="0">
                <a:solidFill>
                  <a:srgbClr val="A9E4CF"/>
                </a:solidFill>
                <a:effectLst/>
                <a:uFillTx/>
                <a:latin typeface="Aptos"/>
                <a:ea typeface="Aptos"/>
              </a:rPr>
              <a:t>base da EDA</a:t>
            </a:r>
            <a:endParaRPr lang="pt-BR" sz="107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13"/>
          <p:cNvSpPr/>
          <p:nvPr/>
        </p:nvSpPr>
        <p:spPr>
          <a:xfrm>
            <a:off x="6062400" y="3282840"/>
            <a:ext cx="15084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010" b="0" u="none" strike="noStrike" noProof="0" dirty="0">
                <a:solidFill>
                  <a:srgbClr val="A6B4C6"/>
                </a:solidFill>
                <a:effectLst/>
                <a:uFillTx/>
                <a:latin typeface="Aptos"/>
                <a:ea typeface="Aptos"/>
              </a:rPr>
              <a:t>88,1% preservados</a:t>
            </a:r>
            <a:endParaRPr lang="pt-BR" sz="101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14"/>
          <p:cNvSpPr/>
          <p:nvPr/>
        </p:nvSpPr>
        <p:spPr>
          <a:xfrm>
            <a:off x="658080" y="3858480"/>
            <a:ext cx="6748560" cy="360"/>
          </a:xfrm>
          <a:prstGeom prst="line">
            <a:avLst/>
          </a:prstGeom>
          <a:ln w="12600">
            <a:solidFill>
              <a:srgbClr val="26395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t-B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15"/>
          <p:cNvSpPr/>
          <p:nvPr/>
        </p:nvSpPr>
        <p:spPr>
          <a:xfrm>
            <a:off x="658080" y="4018686"/>
            <a:ext cx="21574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939" b="1" u="none" strike="noStrike" spc="116" noProof="0" dirty="0">
                <a:solidFill>
                  <a:srgbClr val="25C7E5"/>
                </a:solidFill>
                <a:effectLst/>
                <a:uFillTx/>
                <a:latin typeface="Aptos"/>
                <a:ea typeface="Aptos"/>
              </a:rPr>
              <a:t>O QUE LEVOU À QUARENTENA</a:t>
            </a:r>
            <a:endParaRPr lang="pt-BR" sz="939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20"/>
          <p:cNvSpPr/>
          <p:nvPr/>
        </p:nvSpPr>
        <p:spPr>
          <a:xfrm>
            <a:off x="658080" y="5080839"/>
            <a:ext cx="4297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960" b="0" u="none" strike="noStrike" noProof="0" dirty="0">
                <a:solidFill>
                  <a:srgbClr val="9FB0C6"/>
                </a:solidFill>
                <a:effectLst/>
                <a:uFillTx/>
                <a:latin typeface="Aptos"/>
                <a:ea typeface="Aptos"/>
              </a:rPr>
              <a:t>298 registros únicos violavam ao menos uma das duas regras.</a:t>
            </a:r>
            <a:endParaRPr lang="pt-BR" sz="96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21"/>
          <p:cNvSpPr/>
          <p:nvPr/>
        </p:nvSpPr>
        <p:spPr>
          <a:xfrm>
            <a:off x="627785" y="5394960"/>
            <a:ext cx="50745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960" b="0" u="none" strike="noStrike" noProof="0" dirty="0">
                <a:solidFill>
                  <a:srgbClr val="9FB0C6"/>
                </a:solidFill>
                <a:effectLst/>
                <a:uFillTx/>
                <a:latin typeface="Aptos"/>
                <a:ea typeface="Aptos"/>
              </a:rPr>
              <a:t>Frete &gt; pedido foi sinalizado, mas mantido: é incomum, não impossível.</a:t>
            </a:r>
            <a:endParaRPr lang="pt-BR" sz="96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22"/>
          <p:cNvSpPr/>
          <p:nvPr/>
        </p:nvSpPr>
        <p:spPr>
          <a:xfrm>
            <a:off x="7900560" y="2212920"/>
            <a:ext cx="3611520" cy="3456000"/>
          </a:xfrm>
          <a:prstGeom prst="roundRect">
            <a:avLst>
              <a:gd name="adj" fmla="val 1587"/>
            </a:avLst>
          </a:prstGeom>
          <a:solidFill>
            <a:srgbClr val="0D1A2B"/>
          </a:solidFill>
          <a:ln w="12600">
            <a:solidFill>
              <a:srgbClr val="26395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23"/>
          <p:cNvSpPr/>
          <p:nvPr/>
        </p:nvSpPr>
        <p:spPr>
          <a:xfrm>
            <a:off x="8192880" y="2505600"/>
            <a:ext cx="14169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930" b="1" u="none" strike="noStrike" spc="119" noProof="0" dirty="0">
                <a:solidFill>
                  <a:srgbClr val="25C7E5"/>
                </a:solidFill>
                <a:effectLst/>
                <a:uFillTx/>
                <a:latin typeface="Aptos"/>
                <a:ea typeface="Aptos"/>
              </a:rPr>
              <a:t>BASE ANALÍTICA</a:t>
            </a:r>
            <a:endParaRPr lang="pt-BR" sz="93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24"/>
          <p:cNvSpPr/>
          <p:nvPr/>
        </p:nvSpPr>
        <p:spPr>
          <a:xfrm>
            <a:off x="8192880" y="2843640"/>
            <a:ext cx="6397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3000" b="1" u="none" strike="noStrike" noProof="0" dirty="0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34</a:t>
            </a:r>
            <a:endParaRPr lang="pt-BR" sz="30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25"/>
          <p:cNvSpPr/>
          <p:nvPr/>
        </p:nvSpPr>
        <p:spPr>
          <a:xfrm>
            <a:off x="8979480" y="2926080"/>
            <a:ext cx="11426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140" b="1" u="none" strike="noStrike" noProof="0" dirty="0">
                <a:solidFill>
                  <a:srgbClr val="B9C5D5"/>
                </a:solidFill>
                <a:effectLst/>
                <a:uFillTx/>
                <a:latin typeface="Aptos"/>
                <a:ea typeface="Aptos"/>
              </a:rPr>
              <a:t>colunas finais</a:t>
            </a:r>
            <a:endParaRPr lang="pt-BR" sz="114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26"/>
          <p:cNvSpPr/>
          <p:nvPr/>
        </p:nvSpPr>
        <p:spPr>
          <a:xfrm>
            <a:off x="8192880" y="3401640"/>
            <a:ext cx="22399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170" b="1" u="none" strike="noStrike" noProof="0" dirty="0">
                <a:solidFill>
                  <a:srgbClr val="87E5F2"/>
                </a:solidFill>
                <a:effectLst/>
                <a:uFillTx/>
                <a:latin typeface="Aptos"/>
                <a:ea typeface="Aptos"/>
              </a:rPr>
              <a:t>19 originais  +  15 derivadas</a:t>
            </a:r>
            <a:endParaRPr lang="pt-BR" sz="117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27"/>
          <p:cNvSpPr/>
          <p:nvPr/>
        </p:nvSpPr>
        <p:spPr>
          <a:xfrm>
            <a:off x="8192880" y="3822120"/>
            <a:ext cx="2706480" cy="360"/>
          </a:xfrm>
          <a:prstGeom prst="line">
            <a:avLst/>
          </a:prstGeom>
          <a:ln w="12600">
            <a:solidFill>
              <a:srgbClr val="26395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t-B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28"/>
          <p:cNvSpPr/>
          <p:nvPr/>
        </p:nvSpPr>
        <p:spPr>
          <a:xfrm>
            <a:off x="8192880" y="4041720"/>
            <a:ext cx="26514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020" b="0" u="none" strike="noStrike" noProof="0" dirty="0">
                <a:solidFill>
                  <a:srgbClr val="A6B4C6"/>
                </a:solidFill>
                <a:effectLst/>
                <a:uFillTx/>
                <a:latin typeface="Aptos"/>
                <a:ea typeface="Aptos"/>
              </a:rPr>
              <a:t>As derivadas transformam dados brutos</a:t>
            </a:r>
            <a:endParaRPr lang="pt-BR" sz="102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020" b="0" u="none" strike="noStrike" noProof="0" dirty="0">
                <a:solidFill>
                  <a:srgbClr val="A6B4C6"/>
                </a:solidFill>
                <a:effectLst/>
                <a:uFillTx/>
                <a:latin typeface="Aptos"/>
                <a:ea typeface="Aptos"/>
              </a:rPr>
              <a:t>em variáveis mais úteis para o negócio:</a:t>
            </a:r>
            <a:endParaRPr lang="pt-BR" sz="102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29"/>
          <p:cNvSpPr/>
          <p:nvPr/>
        </p:nvSpPr>
        <p:spPr>
          <a:xfrm>
            <a:off x="8192880" y="4599360"/>
            <a:ext cx="8226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939" b="1" u="none" strike="noStrike" noProof="0" dirty="0">
                <a:solidFill>
                  <a:srgbClr val="25C7E5"/>
                </a:solidFill>
                <a:effectLst/>
                <a:uFillTx/>
                <a:latin typeface="Aptos"/>
                <a:ea typeface="Aptos"/>
              </a:rPr>
              <a:t>indicadores</a:t>
            </a:r>
            <a:endParaRPr lang="pt-BR" sz="939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30"/>
          <p:cNvSpPr/>
          <p:nvPr/>
        </p:nvSpPr>
        <p:spPr>
          <a:xfrm>
            <a:off x="9034200" y="4599360"/>
            <a:ext cx="18925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939" b="0" u="none" strike="noStrike" noProof="0" dirty="0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atraso · contato · reclamação</a:t>
            </a:r>
            <a:endParaRPr lang="pt-BR" sz="939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31"/>
          <p:cNvSpPr/>
          <p:nvPr/>
        </p:nvSpPr>
        <p:spPr>
          <a:xfrm>
            <a:off x="8192880" y="4946760"/>
            <a:ext cx="8226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939" b="1" u="none" strike="noStrike" noProof="0" dirty="0">
                <a:solidFill>
                  <a:srgbClr val="25C7E5"/>
                </a:solidFill>
                <a:effectLst/>
                <a:uFillTx/>
                <a:latin typeface="Aptos"/>
                <a:ea typeface="Aptos"/>
              </a:rPr>
              <a:t>faixas</a:t>
            </a:r>
            <a:endParaRPr lang="pt-BR" sz="939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32"/>
          <p:cNvSpPr/>
          <p:nvPr/>
        </p:nvSpPr>
        <p:spPr>
          <a:xfrm>
            <a:off x="9034200" y="4946760"/>
            <a:ext cx="18925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939" b="0" u="none" strike="noStrike" noProof="0" dirty="0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idade · tenure · valor · entrega</a:t>
            </a:r>
            <a:endParaRPr lang="pt-BR" sz="939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33"/>
          <p:cNvSpPr/>
          <p:nvPr/>
        </p:nvSpPr>
        <p:spPr>
          <a:xfrm>
            <a:off x="8192880" y="5294520"/>
            <a:ext cx="8226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939" b="1" u="none" strike="noStrike" noProof="0" dirty="0">
                <a:solidFill>
                  <a:srgbClr val="25C7E5"/>
                </a:solidFill>
                <a:effectLst/>
                <a:uFillTx/>
                <a:latin typeface="Aptos"/>
                <a:ea typeface="Aptos"/>
              </a:rPr>
              <a:t>proporções</a:t>
            </a:r>
            <a:endParaRPr lang="pt-BR" sz="939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34"/>
          <p:cNvSpPr/>
          <p:nvPr/>
        </p:nvSpPr>
        <p:spPr>
          <a:xfrm>
            <a:off x="9034200" y="5294520"/>
            <a:ext cx="18925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939" b="0" u="none" strike="noStrike" noProof="0" dirty="0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atraso relativo · desconto</a:t>
            </a:r>
            <a:endParaRPr lang="pt-BR" sz="939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35"/>
          <p:cNvSpPr/>
          <p:nvPr/>
        </p:nvSpPr>
        <p:spPr>
          <a:xfrm>
            <a:off x="7900560" y="5833800"/>
            <a:ext cx="3611520" cy="456840"/>
          </a:xfrm>
          <a:prstGeom prst="roundRect">
            <a:avLst>
              <a:gd name="adj" fmla="val 8000"/>
            </a:avLst>
          </a:prstGeom>
          <a:solidFill>
            <a:srgbClr val="10263A"/>
          </a:solidFill>
          <a:ln w="12600">
            <a:solidFill>
              <a:srgbClr val="1E566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36"/>
          <p:cNvSpPr/>
          <p:nvPr/>
        </p:nvSpPr>
        <p:spPr>
          <a:xfrm>
            <a:off x="8119800" y="5943600"/>
            <a:ext cx="3145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970" b="1" u="none" strike="noStrike" noProof="0" dirty="0">
                <a:solidFill>
                  <a:srgbClr val="87E5F2"/>
                </a:solidFill>
                <a:effectLst/>
                <a:uFillTx/>
                <a:latin typeface="Aptos"/>
                <a:ea typeface="Aptos"/>
              </a:rPr>
              <a:t>Princípio: preservar o original e auditar exceções.</a:t>
            </a:r>
            <a:endParaRPr lang="pt-BR" sz="97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37"/>
          <p:cNvSpPr/>
          <p:nvPr/>
        </p:nvSpPr>
        <p:spPr>
          <a:xfrm>
            <a:off x="658440" y="6501240"/>
            <a:ext cx="37486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850" b="0" u="none" strike="noStrike" noProof="0" dirty="0">
                <a:solidFill>
                  <a:srgbClr val="718399"/>
                </a:solidFill>
                <a:effectLst/>
                <a:uFillTx/>
                <a:latin typeface="Aptos"/>
                <a:ea typeface="Aptos"/>
              </a:rPr>
              <a:t>NPS Preditivo  ·  Tech Challenge Fase 1</a:t>
            </a:r>
            <a:endParaRPr lang="pt-BR" sz="85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38"/>
          <p:cNvSpPr/>
          <p:nvPr/>
        </p:nvSpPr>
        <p:spPr>
          <a:xfrm>
            <a:off x="11137320" y="6473880"/>
            <a:ext cx="3837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850" b="0" u="none" strike="noStrike" noProof="0" dirty="0">
                <a:solidFill>
                  <a:srgbClr val="718399"/>
                </a:solidFill>
                <a:effectLst/>
                <a:uFillTx/>
                <a:latin typeface="Aptos"/>
                <a:ea typeface="Aptos"/>
              </a:rPr>
              <a:t>04</a:t>
            </a:r>
            <a:endParaRPr lang="pt-BR" sz="85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" name="Text 16">
            <a:extLst>
              <a:ext uri="{FF2B5EF4-FFF2-40B4-BE49-F238E27FC236}">
                <a16:creationId xmlns:a16="http://schemas.microsoft.com/office/drawing/2014/main" id="{78A18277-282A-E59D-BA0A-6F4276DA6D75}"/>
              </a:ext>
            </a:extLst>
          </p:cNvPr>
          <p:cNvSpPr/>
          <p:nvPr/>
        </p:nvSpPr>
        <p:spPr>
          <a:xfrm>
            <a:off x="662145" y="4375440"/>
            <a:ext cx="6944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10000"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400" b="1" u="none" strike="noStrike" noProof="0" dirty="0">
                <a:solidFill>
                  <a:srgbClr val="EE5A62"/>
                </a:solidFill>
                <a:effectLst/>
                <a:uFillTx/>
                <a:latin typeface="Aptos Display"/>
                <a:ea typeface="Aptos Display"/>
              </a:rPr>
              <a:t>267</a:t>
            </a:r>
            <a:endParaRPr lang="pt-BR" sz="24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Text 17">
            <a:extLst>
              <a:ext uri="{FF2B5EF4-FFF2-40B4-BE49-F238E27FC236}">
                <a16:creationId xmlns:a16="http://schemas.microsoft.com/office/drawing/2014/main" id="{264D5BF3-8912-543C-83CD-02B2D9734DBD}"/>
              </a:ext>
            </a:extLst>
          </p:cNvPr>
          <p:cNvSpPr/>
          <p:nvPr/>
        </p:nvSpPr>
        <p:spPr>
          <a:xfrm>
            <a:off x="662145" y="4731840"/>
            <a:ext cx="17002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050" b="1" u="none" strike="noStrike" noProof="0" dirty="0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atraso ≥ tempo total</a:t>
            </a:r>
            <a:endParaRPr lang="pt-BR" sz="105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Text 18">
            <a:extLst>
              <a:ext uri="{FF2B5EF4-FFF2-40B4-BE49-F238E27FC236}">
                <a16:creationId xmlns:a16="http://schemas.microsoft.com/office/drawing/2014/main" id="{869558F8-0996-79A9-4F3C-3B834636C712}"/>
              </a:ext>
            </a:extLst>
          </p:cNvPr>
          <p:cNvSpPr/>
          <p:nvPr/>
        </p:nvSpPr>
        <p:spPr>
          <a:xfrm>
            <a:off x="2369498" y="4375440"/>
            <a:ext cx="5666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10000"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400" b="1" u="none" strike="noStrike" noProof="0" dirty="0">
                <a:solidFill>
                  <a:srgbClr val="EE5A62"/>
                </a:solidFill>
                <a:effectLst/>
                <a:uFillTx/>
                <a:latin typeface="Aptos Display"/>
                <a:ea typeface="Aptos Display"/>
              </a:rPr>
              <a:t>31</a:t>
            </a:r>
            <a:endParaRPr lang="pt-BR" sz="24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9">
            <a:extLst>
              <a:ext uri="{FF2B5EF4-FFF2-40B4-BE49-F238E27FC236}">
                <a16:creationId xmlns:a16="http://schemas.microsoft.com/office/drawing/2014/main" id="{79B19BCD-6425-7C3D-7239-42F76F94ACAC}"/>
              </a:ext>
            </a:extLst>
          </p:cNvPr>
          <p:cNvSpPr/>
          <p:nvPr/>
        </p:nvSpPr>
        <p:spPr>
          <a:xfrm>
            <a:off x="2333483" y="4709520"/>
            <a:ext cx="1481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050" b="1" u="none" strike="noStrike" noProof="0" dirty="0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desconto &gt; pedido</a:t>
            </a:r>
            <a:endParaRPr lang="pt-BR" sz="105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0">
            <a:extLst>
              <a:ext uri="{FF2B5EF4-FFF2-40B4-BE49-F238E27FC236}">
                <a16:creationId xmlns:a16="http://schemas.microsoft.com/office/drawing/2014/main" id="{686906F5-56A5-BE06-CA84-1881B0621128}"/>
              </a:ext>
            </a:extLst>
          </p:cNvPr>
          <p:cNvSpPr/>
          <p:nvPr/>
        </p:nvSpPr>
        <p:spPr>
          <a:xfrm>
            <a:off x="3785580" y="4353120"/>
            <a:ext cx="4201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10000"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400" b="1" u="none" strike="noStrike" noProof="0" dirty="0">
                <a:solidFill>
                  <a:srgbClr val="F4B64A"/>
                </a:solidFill>
                <a:effectLst/>
                <a:uFillTx/>
                <a:latin typeface="Aptos Display"/>
                <a:ea typeface="Aptos Display"/>
              </a:rPr>
              <a:t>4</a:t>
            </a:r>
            <a:endParaRPr lang="pt-BR" sz="24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21">
            <a:extLst>
              <a:ext uri="{FF2B5EF4-FFF2-40B4-BE49-F238E27FC236}">
                <a16:creationId xmlns:a16="http://schemas.microsoft.com/office/drawing/2014/main" id="{4101EB52-ED65-6184-B184-A4AFB263ACF7}"/>
              </a:ext>
            </a:extLst>
          </p:cNvPr>
          <p:cNvSpPr/>
          <p:nvPr/>
        </p:nvSpPr>
        <p:spPr>
          <a:xfrm>
            <a:off x="3785580" y="4709520"/>
            <a:ext cx="15724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050" b="1" u="none" strike="noStrike" noProof="0" dirty="0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violam as duas regras</a:t>
            </a:r>
            <a:endParaRPr lang="pt-BR" sz="105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5943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25C7E5"/>
                </a:solidFill>
                <a:latin typeface="Aptos"/>
              </a:rPr>
              <a:t>PARTE 3 · O QUE OS DADOS MOSTRAM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6384"/>
            <a:ext cx="1088136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900" b="1" i="0">
                <a:solidFill>
                  <a:srgbClr val="FFFFFF"/>
                </a:solidFill>
                <a:latin typeface="Aptos Display"/>
              </a:rPr>
              <a:t>Quatro em cada cinco pedidos terminam com um cliente insatisfeito.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7276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10" b="0" i="0">
                <a:solidFill>
                  <a:srgbClr val="9FB0C6"/>
                </a:solidFill>
                <a:latin typeface="Aptos"/>
              </a:rPr>
              <a:t>Distribuição do NPS entre os 2.202 pedidos analisados após o tratamento da base.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331720"/>
            <a:ext cx="23774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900" b="1" i="0">
                <a:solidFill>
                  <a:srgbClr val="EE5A62"/>
                </a:solidFill>
                <a:latin typeface="Aptos Display"/>
              </a:rPr>
              <a:t>83,1%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218688"/>
            <a:ext cx="24231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20" b="1" i="0">
                <a:solidFill>
                  <a:srgbClr val="FFFFFF"/>
                </a:solidFill>
                <a:latin typeface="Aptos"/>
              </a:rPr>
              <a:t>são detratores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749039"/>
            <a:ext cx="2651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40" b="0" i="0">
                <a:solidFill>
                  <a:srgbClr val="9FB0C6"/>
                </a:solidFill>
                <a:latin typeface="Aptos"/>
              </a:rPr>
              <a:t>1.829 de 2.202 pedidos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11480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331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4133087"/>
            <a:ext cx="16002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30" b="1" i="0">
                <a:solidFill>
                  <a:srgbClr val="F6A5AA"/>
                </a:solidFill>
                <a:latin typeface="Aptos"/>
              </a:rPr>
              <a:t>maioria absoluta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9584" y="2212848"/>
            <a:ext cx="7991856" cy="3611880"/>
          </a:xfrm>
          <a:prstGeom prst="roundRect">
            <a:avLst>
              <a:gd name="adj" fmla="val 3000"/>
            </a:avLst>
          </a:prstGeom>
          <a:solidFill>
            <a:srgbClr val="0D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22191" y="2487168"/>
            <a:ext cx="3657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" b="1" i="0">
                <a:solidFill>
                  <a:srgbClr val="25C7E5"/>
                </a:solidFill>
                <a:latin typeface="Aptos"/>
              </a:rPr>
              <a:t>DISTRIBUIÇÃO COMPLETA</a:t>
            </a:r>
          </a:p>
        </p:txBody>
      </p:sp>
      <p:sp>
        <p:nvSpPr>
          <p:cNvPr id="12" name="Oval 11"/>
          <p:cNvSpPr/>
          <p:nvPr/>
        </p:nvSpPr>
        <p:spPr>
          <a:xfrm>
            <a:off x="3822191" y="2990087"/>
            <a:ext cx="118872" cy="118872"/>
          </a:xfrm>
          <a:prstGeom prst="ellipse">
            <a:avLst/>
          </a:prstGeom>
          <a:solidFill>
            <a:srgbClr val="EE5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59935" y="2916936"/>
            <a:ext cx="2011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ptos"/>
              </a:rPr>
              <a:t>Detrator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916936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80" b="0" i="0">
                <a:solidFill>
                  <a:srgbClr val="A6B4C6"/>
                </a:solidFill>
                <a:latin typeface="Aptos"/>
              </a:rPr>
              <a:t>1.829 pedidos · 83,1%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22191" y="3273551"/>
            <a:ext cx="7406640" cy="128016"/>
          </a:xfrm>
          <a:prstGeom prst="roundRect">
            <a:avLst>
              <a:gd name="adj" fmla="val 50000"/>
            </a:avLst>
          </a:prstGeom>
          <a:solidFill>
            <a:srgbClr val="14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822191" y="3273551"/>
            <a:ext cx="6154917" cy="128016"/>
          </a:xfrm>
          <a:prstGeom prst="roundRect">
            <a:avLst>
              <a:gd name="adj" fmla="val 50000"/>
            </a:avLst>
          </a:prstGeom>
          <a:solidFill>
            <a:srgbClr val="EE5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822191" y="3776472"/>
            <a:ext cx="118872" cy="118872"/>
          </a:xfrm>
          <a:prstGeom prst="ellipse">
            <a:avLst/>
          </a:prstGeom>
          <a:solidFill>
            <a:srgbClr val="F4B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59935" y="3703320"/>
            <a:ext cx="2011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ptos"/>
              </a:rPr>
              <a:t>Neutro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85632" y="3703320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80" b="0" i="0">
                <a:solidFill>
                  <a:srgbClr val="A6B4C6"/>
                </a:solidFill>
                <a:latin typeface="Aptos"/>
              </a:rPr>
              <a:t>267 pedidos · 12,1%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22191" y="4059936"/>
            <a:ext cx="7406640" cy="128016"/>
          </a:xfrm>
          <a:prstGeom prst="roundRect">
            <a:avLst>
              <a:gd name="adj" fmla="val 50000"/>
            </a:avLst>
          </a:prstGeom>
          <a:solidFill>
            <a:srgbClr val="14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822191" y="4059936"/>
            <a:ext cx="896203" cy="128016"/>
          </a:xfrm>
          <a:prstGeom prst="roundRect">
            <a:avLst>
              <a:gd name="adj" fmla="val 50000"/>
            </a:avLst>
          </a:prstGeom>
          <a:solidFill>
            <a:srgbClr val="F4B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822191" y="4562856"/>
            <a:ext cx="118872" cy="118872"/>
          </a:xfrm>
          <a:prstGeom prst="ellipse">
            <a:avLst/>
          </a:prstGeom>
          <a:solidFill>
            <a:srgbClr val="27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59935" y="4489704"/>
            <a:ext cx="2011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ptos"/>
              </a:rPr>
              <a:t>Promotor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85632" y="4489704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80" b="0" i="0">
                <a:solidFill>
                  <a:srgbClr val="A6B4C6"/>
                </a:solidFill>
                <a:latin typeface="Aptos"/>
              </a:rPr>
              <a:t>106 pedidos · 4,8%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22191" y="4846320"/>
            <a:ext cx="7406640" cy="128016"/>
          </a:xfrm>
          <a:prstGeom prst="roundRect">
            <a:avLst>
              <a:gd name="adj" fmla="val 50000"/>
            </a:avLst>
          </a:prstGeom>
          <a:solidFill>
            <a:srgbClr val="14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822191" y="4846320"/>
            <a:ext cx="355518" cy="128016"/>
          </a:xfrm>
          <a:prstGeom prst="roundRect">
            <a:avLst>
              <a:gd name="adj" fmla="val 50000"/>
            </a:avLst>
          </a:prstGeom>
          <a:solidFill>
            <a:srgbClr val="27A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3822191" y="5349240"/>
            <a:ext cx="7406641" cy="0"/>
          </a:xfrm>
          <a:prstGeom prst="line">
            <a:avLst/>
          </a:prstGeom>
          <a:ln w="9525">
            <a:solidFill>
              <a:srgbClr val="26395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822191" y="5486400"/>
            <a:ext cx="7406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20" b="1" i="0">
                <a:solidFill>
                  <a:srgbClr val="87E5F2"/>
                </a:solidFill>
                <a:latin typeface="Aptos"/>
              </a:rPr>
              <a:t>NPS médio: </a:t>
            </a:r>
            <a:r>
              <a:rPr sz="1120" b="1" i="0">
                <a:solidFill>
                  <a:srgbClr val="FFFFFF"/>
                </a:solidFill>
                <a:latin typeface="Aptos"/>
              </a:rPr>
              <a:t>4,55</a:t>
            </a:r>
            <a:r>
              <a:rPr sz="1120" b="0" i="0">
                <a:solidFill>
                  <a:srgbClr val="A6B4C6"/>
                </a:solidFill>
                <a:latin typeface="Aptos"/>
              </a:rPr>
              <a:t>   ·   mediana: </a:t>
            </a:r>
            <a:r>
              <a:rPr sz="1120" b="1" i="0">
                <a:solidFill>
                  <a:srgbClr val="FFFFFF"/>
                </a:solidFill>
                <a:latin typeface="Aptos"/>
              </a:rPr>
              <a:t>4,60</a:t>
            </a:r>
            <a:r>
              <a:rPr sz="1120" b="0" i="0">
                <a:solidFill>
                  <a:srgbClr val="A6B4C6"/>
                </a:solidFill>
                <a:latin typeface="Aptos"/>
              </a:rPr>
              <a:t>   ·   escala 0–10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501384"/>
            <a:ext cx="374903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18399"/>
                </a:solidFill>
                <a:latin typeface="Aptos"/>
              </a:rPr>
              <a:t>NPS Preditivo  ·  Tech Challenge Fase 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37392" y="6473952"/>
            <a:ext cx="38404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18399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5943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25C7E5"/>
                </a:solidFill>
                <a:latin typeface="Aptos"/>
              </a:rPr>
              <a:t>PARTE 3 · FATORES CRÍTICOS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6384"/>
            <a:ext cx="1088136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900" b="1" i="0">
                <a:solidFill>
                  <a:srgbClr val="111827"/>
                </a:solidFill>
                <a:latin typeface="Aptos Display"/>
              </a:rPr>
              <a:t>Entrega no prazo é o fator com maior peso no NPS.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7276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10" b="0" i="0">
                <a:solidFill>
                  <a:srgbClr val="667085"/>
                </a:solidFill>
                <a:latin typeface="Aptos"/>
              </a:rPr>
              <a:t>Correlação de cada variável operacional com o NPS Score, sobre os 2.202 pedidos tratados.</a:t>
            </a:r>
          </a:p>
        </p:txBody>
      </p:sp>
      <p:sp>
        <p:nvSpPr>
          <p:cNvPr id="5" name="Oval 4"/>
          <p:cNvSpPr/>
          <p:nvPr/>
        </p:nvSpPr>
        <p:spPr>
          <a:xfrm>
            <a:off x="832104" y="2039112"/>
            <a:ext cx="493776" cy="493776"/>
          </a:xfrm>
          <a:prstGeom prst="ellipse">
            <a:avLst/>
          </a:prstGeom>
          <a:solidFill>
            <a:srgbClr val="25C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" y="2130552"/>
            <a:ext cx="4937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80" b="1" i="0">
                <a:solidFill>
                  <a:srgbClr val="091220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72768" y="2121408"/>
            <a:ext cx="5623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20" b="1" i="0">
                <a:solidFill>
                  <a:srgbClr val="111827"/>
                </a:solidFill>
                <a:latin typeface="Aptos Display"/>
              </a:rPr>
              <a:t>Atraso na entrega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72768" y="2487168"/>
            <a:ext cx="55321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60" b="0" i="0">
                <a:solidFill>
                  <a:srgbClr val="667085"/>
                </a:solidFill>
                <a:latin typeface="Aptos"/>
              </a:rPr>
              <a:t>correlação − 0,578 · quanto maior o atraso, menor o NPS</a:t>
            </a:r>
          </a:p>
        </p:txBody>
      </p:sp>
      <p:sp>
        <p:nvSpPr>
          <p:cNvPr id="9" name="Oval 8"/>
          <p:cNvSpPr/>
          <p:nvPr/>
        </p:nvSpPr>
        <p:spPr>
          <a:xfrm>
            <a:off x="832104" y="2871216"/>
            <a:ext cx="493776" cy="4937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" y="2962656"/>
            <a:ext cx="4937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80" b="1" i="0">
                <a:solidFill>
                  <a:srgbClr val="667085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953512"/>
            <a:ext cx="5623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20" b="1" i="0">
                <a:solidFill>
                  <a:srgbClr val="111827"/>
                </a:solidFill>
                <a:latin typeface="Aptos Display"/>
              </a:rPr>
              <a:t>Recompra em 30 dias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3319272"/>
            <a:ext cx="55321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60" b="0" i="0">
                <a:solidFill>
                  <a:srgbClr val="667085"/>
                </a:solidFill>
                <a:latin typeface="Aptos"/>
              </a:rPr>
              <a:t>correlação + 0,578 · cliente satisfeito volta a comprar</a:t>
            </a:r>
          </a:p>
        </p:txBody>
      </p:sp>
      <p:sp>
        <p:nvSpPr>
          <p:cNvPr id="13" name="Oval 12"/>
          <p:cNvSpPr/>
          <p:nvPr/>
        </p:nvSpPr>
        <p:spPr>
          <a:xfrm>
            <a:off x="832104" y="3703320"/>
            <a:ext cx="493776" cy="4937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" y="3794759"/>
            <a:ext cx="4937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80" b="1" i="0">
                <a:solidFill>
                  <a:srgbClr val="667085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3785615"/>
            <a:ext cx="5623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20" b="1" i="0">
                <a:solidFill>
                  <a:srgbClr val="111827"/>
                </a:solidFill>
                <a:latin typeface="Aptos Display"/>
              </a:rPr>
              <a:t>CSAT interno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4151376"/>
            <a:ext cx="55321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60" b="0" i="0">
                <a:solidFill>
                  <a:srgbClr val="667085"/>
                </a:solidFill>
                <a:latin typeface="Aptos"/>
              </a:rPr>
              <a:t>correlação + 0,548 · a métrica interna confirma o NPS</a:t>
            </a:r>
          </a:p>
        </p:txBody>
      </p:sp>
      <p:sp>
        <p:nvSpPr>
          <p:cNvPr id="17" name="Oval 16"/>
          <p:cNvSpPr/>
          <p:nvPr/>
        </p:nvSpPr>
        <p:spPr>
          <a:xfrm>
            <a:off x="832104" y="4535424"/>
            <a:ext cx="493776" cy="4937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" y="4626864"/>
            <a:ext cx="4937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80" b="1" i="0">
                <a:solidFill>
                  <a:srgbClr val="667085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2768" y="4617720"/>
            <a:ext cx="5623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20" b="1" i="0">
                <a:solidFill>
                  <a:srgbClr val="111827"/>
                </a:solidFill>
                <a:latin typeface="Aptos Display"/>
              </a:rPr>
              <a:t>Reclamações registradas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72768" y="4983480"/>
            <a:ext cx="55321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60" b="0" i="0">
                <a:solidFill>
                  <a:srgbClr val="667085"/>
                </a:solidFill>
                <a:latin typeface="Aptos"/>
              </a:rPr>
              <a:t>correlação − 0,507 · mais reclamações, nota mais baixa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99248" y="2157984"/>
            <a:ext cx="3794760" cy="3364992"/>
          </a:xfrm>
          <a:prstGeom prst="roundRect">
            <a:avLst>
              <a:gd name="adj" fmla="val 4500"/>
            </a:avLst>
          </a:prstGeom>
          <a:solidFill>
            <a:srgbClr val="09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10144" y="2487168"/>
            <a:ext cx="3017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40" b="1" i="0">
                <a:solidFill>
                  <a:srgbClr val="25C7E5"/>
                </a:solidFill>
                <a:latin typeface="Aptos"/>
              </a:rPr>
              <a:t>DETRATOR VS. NÃO-DETRATOR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10144" y="2944368"/>
            <a:ext cx="11887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50" b="1" i="0">
                <a:solidFill>
                  <a:srgbClr val="EE5A62"/>
                </a:solidFill>
                <a:latin typeface="Aptos Display"/>
              </a:rPr>
              <a:t>+144,6%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16568" y="299923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19" b="0" i="0">
                <a:solidFill>
                  <a:srgbClr val="FFFFFF"/>
                </a:solidFill>
                <a:latin typeface="Aptos"/>
              </a:rPr>
              <a:t>dias de atraso na entrega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010144" y="3474720"/>
            <a:ext cx="3172968" cy="0"/>
          </a:xfrm>
          <a:prstGeom prst="line">
            <a:avLst/>
          </a:prstGeom>
          <a:ln w="9525">
            <a:solidFill>
              <a:srgbClr val="26395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010144" y="3657600"/>
            <a:ext cx="11887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50" b="1" i="0">
                <a:solidFill>
                  <a:srgbClr val="EE5A62"/>
                </a:solidFill>
                <a:latin typeface="Aptos Display"/>
              </a:rPr>
              <a:t>+75,3%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16568" y="3712463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19" b="0" i="0">
                <a:solidFill>
                  <a:srgbClr val="FFFFFF"/>
                </a:solidFill>
                <a:latin typeface="Aptos"/>
              </a:rPr>
              <a:t>contatos com atendimento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010144" y="4187952"/>
            <a:ext cx="3172968" cy="0"/>
          </a:xfrm>
          <a:prstGeom prst="line">
            <a:avLst/>
          </a:prstGeom>
          <a:ln w="9525">
            <a:solidFill>
              <a:srgbClr val="26395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010144" y="4370832"/>
            <a:ext cx="11887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50" b="1" i="0">
                <a:solidFill>
                  <a:srgbClr val="EE5A62"/>
                </a:solidFill>
                <a:latin typeface="Aptos Display"/>
              </a:rPr>
              <a:t>+71,0%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16568" y="4425696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19" b="0" i="0">
                <a:solidFill>
                  <a:srgbClr val="FFFFFF"/>
                </a:solidFill>
                <a:latin typeface="Aptos"/>
              </a:rPr>
              <a:t>reclamações registradas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0144" y="4919472"/>
            <a:ext cx="31729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90" b="1" i="0">
                <a:solidFill>
                  <a:srgbClr val="87E5F2"/>
                </a:solidFill>
                <a:latin typeface="Aptos"/>
              </a:rPr>
              <a:t>Fatores demográficos (idade, região, tempo de casa) têm impacto mínimo no NPS.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501384"/>
            <a:ext cx="374903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98A2B3"/>
                </a:solidFill>
                <a:latin typeface="Aptos"/>
              </a:rPr>
              <a:t>NPS Preditivo  ·  Tech Challenge Fase 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37392" y="6473952"/>
            <a:ext cx="38404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98A2B3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5943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25C7E5"/>
                </a:solidFill>
                <a:latin typeface="Aptos"/>
              </a:rPr>
              <a:t>PARTE 3 · PONTO DE RUPTURA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6384"/>
            <a:ext cx="1088136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900" b="1" i="0">
                <a:solidFill>
                  <a:srgbClr val="FFFFFF"/>
                </a:solidFill>
                <a:latin typeface="Aptos Display"/>
              </a:rPr>
              <a:t>Basta 1 dia de atraso para o NPS despencar.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7276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10" b="0" i="0">
                <a:solidFill>
                  <a:srgbClr val="9FB0C6"/>
                </a:solidFill>
                <a:latin typeface="Aptos"/>
              </a:rPr>
              <a:t>NPS médio e proporção de detratores por dias de atraso na entrega (2.202 pedidos).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501384"/>
            <a:ext cx="374903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18399"/>
                </a:solidFill>
                <a:latin typeface="Aptos"/>
              </a:rPr>
              <a:t>NPS Preditivo  ·  Tech Challenge Fase 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37392" y="6473952"/>
            <a:ext cx="38404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18399"/>
                </a:solidFill>
                <a:latin typeface="Aptos"/>
              </a:rPr>
              <a:t>07</a:t>
            </a:r>
          </a:p>
        </p:txBody>
      </p:sp>
      <p:pic>
        <p:nvPicPr>
          <p:cNvPr id="33" name="Picture 32" descr="ruptur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212848"/>
            <a:ext cx="6903720" cy="3182112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7818120" y="2212848"/>
            <a:ext cx="3712463" cy="3182112"/>
          </a:xfrm>
          <a:prstGeom prst="roundRect">
            <a:avLst>
              <a:gd name="adj" fmla="val 5000"/>
            </a:avLst>
          </a:prstGeom>
          <a:solidFill>
            <a:srgbClr val="0D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92440" y="2450591"/>
            <a:ext cx="316382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40" b="1" i="0">
                <a:solidFill>
                  <a:srgbClr val="25C7E5"/>
                </a:solidFill>
                <a:latin typeface="Aptos"/>
              </a:rPr>
              <a:t>O IMPACTO DO 1º DIA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92440" y="2779776"/>
            <a:ext cx="3163823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EE5A62"/>
                </a:solidFill>
                <a:latin typeface="Aptos Display"/>
              </a:rPr>
              <a:t>−1,3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92440" y="3364991"/>
            <a:ext cx="316382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ptos"/>
              </a:rPr>
              <a:t>pontos de NPS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092440" y="3730752"/>
            <a:ext cx="3163823" cy="0"/>
          </a:xfrm>
          <a:prstGeom prst="line">
            <a:avLst/>
          </a:prstGeom>
          <a:ln w="9525">
            <a:solidFill>
              <a:srgbClr val="26395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8092440" y="3913632"/>
            <a:ext cx="3163823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EE5A62"/>
                </a:solidFill>
                <a:latin typeface="Aptos Display"/>
              </a:rPr>
              <a:t>+22,3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92440" y="4498848"/>
            <a:ext cx="316382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ptos"/>
              </a:rPr>
              <a:t>p.p. a mais de detratores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092440" y="4864608"/>
            <a:ext cx="3163823" cy="0"/>
          </a:xfrm>
          <a:prstGeom prst="line">
            <a:avLst/>
          </a:prstGeom>
          <a:ln w="9525">
            <a:solidFill>
              <a:srgbClr val="26395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8092440" y="4974336"/>
            <a:ext cx="31638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60" b="0" i="0">
                <a:solidFill>
                  <a:srgbClr val="A6B4C6"/>
                </a:solidFill>
                <a:latin typeface="Aptos"/>
              </a:rPr>
              <a:t>comparando 0 dia vs. 1 dia de atraso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" y="5577840"/>
            <a:ext cx="10881360" cy="777240"/>
          </a:xfrm>
          <a:prstGeom prst="roundRect">
            <a:avLst>
              <a:gd name="adj" fmla="val 10000"/>
            </a:avLst>
          </a:prstGeom>
          <a:solidFill>
            <a:srgbClr val="10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0120" y="5705855"/>
            <a:ext cx="1024128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ptos"/>
              </a:rPr>
              <a:t>Não existe “atraso aceitável” na percepção do cliente — </a:t>
            </a:r>
            <a:r>
              <a:rPr sz="1200" b="1" i="0">
                <a:solidFill>
                  <a:srgbClr val="87E5F2"/>
                </a:solidFill>
                <a:latin typeface="Aptos"/>
              </a:rPr>
              <a:t>o salto de 0 para 1 dia já é o maior choque de satisfação da jornada.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5943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25C7E5"/>
                </a:solidFill>
                <a:latin typeface="Aptos"/>
              </a:rPr>
              <a:t>PARTE 4 · QUEM SÃO ESSES CLIENTES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6384"/>
            <a:ext cx="1088136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900" b="1" i="0">
                <a:solidFill>
                  <a:srgbClr val="111827"/>
                </a:solidFill>
                <a:latin typeface="Aptos Display"/>
              </a:rPr>
              <a:t>A diferença entre promotor e detrator é operacional, não demográfica.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7276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10" b="0" i="0">
                <a:solidFill>
                  <a:srgbClr val="667085"/>
                </a:solidFill>
                <a:latin typeface="Aptos"/>
              </a:rPr>
              <a:t>Comportamento médio dos 106 promotores e dos 1.829 detratores da base tratada.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212848"/>
            <a:ext cx="5074920" cy="3703320"/>
          </a:xfrm>
          <a:prstGeom prst="roundRect">
            <a:avLst>
              <a:gd name="adj" fmla="val 3500"/>
            </a:avLst>
          </a:prstGeom>
          <a:solidFill>
            <a:srgbClr val="E9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53327" y="2212848"/>
            <a:ext cx="5074920" cy="3703320"/>
          </a:xfrm>
          <a:prstGeom prst="roundRect">
            <a:avLst>
              <a:gd name="adj" fmla="val 3500"/>
            </a:avLst>
          </a:prstGeom>
          <a:solidFill>
            <a:srgbClr val="FD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2468880"/>
            <a:ext cx="44531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7A77A"/>
                </a:solidFill>
                <a:latin typeface="Aptos"/>
              </a:rPr>
              <a:t>PROMOTOR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743200"/>
            <a:ext cx="44531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7085"/>
                </a:solidFill>
                <a:latin typeface="Aptos"/>
              </a:rPr>
              <a:t>4,8% da base · 106 pedidos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64223" y="2468880"/>
            <a:ext cx="44531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EE5A62"/>
                </a:solidFill>
                <a:latin typeface="Aptos"/>
              </a:rPr>
              <a:t>DETRATOR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64223" y="2743200"/>
            <a:ext cx="44531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7085"/>
                </a:solidFill>
                <a:latin typeface="Aptos"/>
              </a:rPr>
              <a:t>83,1% da base · 1.829 pedidos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3218688"/>
            <a:ext cx="35204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30" b="0" i="0">
                <a:solidFill>
                  <a:srgbClr val="3B4A5F"/>
                </a:solidFill>
                <a:latin typeface="Aptos"/>
              </a:rPr>
              <a:t>Atraso médio na entrega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61688" y="319125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50" b="1" i="0">
                <a:solidFill>
                  <a:srgbClr val="16794F"/>
                </a:solidFill>
                <a:latin typeface="Aptos"/>
              </a:rPr>
              <a:t>0,7 dias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3" y="3218688"/>
            <a:ext cx="35204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30" b="0" i="0">
                <a:solidFill>
                  <a:srgbClr val="3B4A5F"/>
                </a:solidFill>
                <a:latin typeface="Aptos"/>
              </a:rPr>
              <a:t>Atraso médio na entrega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56647" y="319125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50" b="1" i="0">
                <a:solidFill>
                  <a:srgbClr val="B23A40"/>
                </a:solidFill>
                <a:latin typeface="Aptos"/>
              </a:rPr>
              <a:t>2,3 dias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69264" y="3621024"/>
            <a:ext cx="4453128" cy="0"/>
          </a:xfrm>
          <a:prstGeom prst="line">
            <a:avLst/>
          </a:prstGeom>
          <a:ln w="7620">
            <a:solidFill>
              <a:srgbClr val="CFE3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364223" y="3621024"/>
            <a:ext cx="4453128" cy="0"/>
          </a:xfrm>
          <a:prstGeom prst="line">
            <a:avLst/>
          </a:prstGeom>
          <a:ln w="7620">
            <a:solidFill>
              <a:srgbClr val="F3D3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69264" y="3730752"/>
            <a:ext cx="35204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30" b="0" i="0">
                <a:solidFill>
                  <a:srgbClr val="3B4A5F"/>
                </a:solidFill>
                <a:latin typeface="Aptos"/>
              </a:rPr>
              <a:t>Reclamações registradas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61688" y="37033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50" b="1" i="0">
                <a:solidFill>
                  <a:srgbClr val="16794F"/>
                </a:solidFill>
                <a:latin typeface="Aptos"/>
              </a:rPr>
              <a:t>2,3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4223" y="3730752"/>
            <a:ext cx="35204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30" b="0" i="0">
                <a:solidFill>
                  <a:srgbClr val="3B4A5F"/>
                </a:solidFill>
                <a:latin typeface="Aptos"/>
              </a:rPr>
              <a:t>Reclamações registradas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56647" y="37033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50" b="1" i="0">
                <a:solidFill>
                  <a:srgbClr val="B23A40"/>
                </a:solidFill>
                <a:latin typeface="Aptos"/>
              </a:rPr>
              <a:t>4,4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69264" y="4133088"/>
            <a:ext cx="4453128" cy="0"/>
          </a:xfrm>
          <a:prstGeom prst="line">
            <a:avLst/>
          </a:prstGeom>
          <a:ln w="7620">
            <a:solidFill>
              <a:srgbClr val="CFE3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364223" y="4133088"/>
            <a:ext cx="4453128" cy="0"/>
          </a:xfrm>
          <a:prstGeom prst="line">
            <a:avLst/>
          </a:prstGeom>
          <a:ln w="7620">
            <a:solidFill>
              <a:srgbClr val="F3D3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69264" y="4242816"/>
            <a:ext cx="35204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30" b="0" i="0">
                <a:solidFill>
                  <a:srgbClr val="3B4A5F"/>
                </a:solidFill>
                <a:latin typeface="Aptos"/>
              </a:rPr>
              <a:t>Contatos com atendimento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61688" y="421538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50" b="1" i="0">
                <a:solidFill>
                  <a:srgbClr val="16794F"/>
                </a:solidFill>
                <a:latin typeface="Aptos"/>
              </a:rPr>
              <a:t>0,7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3" y="4242816"/>
            <a:ext cx="35204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30" b="0" i="0">
                <a:solidFill>
                  <a:srgbClr val="3B4A5F"/>
                </a:solidFill>
                <a:latin typeface="Aptos"/>
              </a:rPr>
              <a:t>Contatos com atendimento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56647" y="421538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50" b="1" i="0">
                <a:solidFill>
                  <a:srgbClr val="B23A40"/>
                </a:solidFill>
                <a:latin typeface="Aptos"/>
              </a:rPr>
              <a:t>1,6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69264" y="4645152"/>
            <a:ext cx="4453128" cy="0"/>
          </a:xfrm>
          <a:prstGeom prst="line">
            <a:avLst/>
          </a:prstGeom>
          <a:ln w="7620">
            <a:solidFill>
              <a:srgbClr val="CFE3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364223" y="4645152"/>
            <a:ext cx="4453128" cy="0"/>
          </a:xfrm>
          <a:prstGeom prst="line">
            <a:avLst/>
          </a:prstGeom>
          <a:ln w="7620">
            <a:solidFill>
              <a:srgbClr val="F3D3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69264" y="4754880"/>
            <a:ext cx="35204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30" b="0" i="0">
                <a:solidFill>
                  <a:srgbClr val="3B4A5F"/>
                </a:solidFill>
                <a:latin typeface="Aptos"/>
              </a:rPr>
              <a:t>CSAT interno (0–10)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1688" y="472744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50" b="1" i="0">
                <a:solidFill>
                  <a:srgbClr val="16794F"/>
                </a:solidFill>
                <a:latin typeface="Aptos"/>
              </a:rPr>
              <a:t>6,1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64223" y="4754880"/>
            <a:ext cx="35204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30" b="0" i="0">
                <a:solidFill>
                  <a:srgbClr val="3B4A5F"/>
                </a:solidFill>
                <a:latin typeface="Aptos"/>
              </a:rPr>
              <a:t>CSAT interno (0–10)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56647" y="472744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50" b="1" i="0">
                <a:solidFill>
                  <a:srgbClr val="B23A40"/>
                </a:solidFill>
                <a:latin typeface="Aptos"/>
              </a:rPr>
              <a:t>2,6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69264" y="5157216"/>
            <a:ext cx="4453128" cy="0"/>
          </a:xfrm>
          <a:prstGeom prst="line">
            <a:avLst/>
          </a:prstGeom>
          <a:ln w="7620">
            <a:solidFill>
              <a:srgbClr val="CFE3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364223" y="5157216"/>
            <a:ext cx="4453128" cy="0"/>
          </a:xfrm>
          <a:prstGeom prst="line">
            <a:avLst/>
          </a:prstGeom>
          <a:ln w="7620">
            <a:solidFill>
              <a:srgbClr val="F3D3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969264" y="5266944"/>
            <a:ext cx="35204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30" b="0" i="0">
                <a:solidFill>
                  <a:srgbClr val="3B4A5F"/>
                </a:solidFill>
                <a:latin typeface="Aptos"/>
              </a:rPr>
              <a:t>Recompra em 30 dias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61688" y="523951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50" b="1" i="0">
                <a:solidFill>
                  <a:srgbClr val="16794F"/>
                </a:solidFill>
                <a:latin typeface="Aptos"/>
              </a:rPr>
              <a:t>100%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64223" y="5266944"/>
            <a:ext cx="35204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30" b="0" i="0">
                <a:solidFill>
                  <a:srgbClr val="3B4A5F"/>
                </a:solidFill>
                <a:latin typeface="Aptos"/>
              </a:rPr>
              <a:t>Recompra em 30 dias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56647" y="523951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50" b="1" i="0">
                <a:solidFill>
                  <a:srgbClr val="B23A40"/>
                </a:solidFill>
                <a:latin typeface="Aptos"/>
              </a:rPr>
              <a:t>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080759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80" b="1" i="0">
                <a:solidFill>
                  <a:srgbClr val="667085"/>
                </a:solidFill>
                <a:latin typeface="Aptos"/>
              </a:rPr>
              <a:t>Idade, região e tempo de relacionamento variam pouco entre os grupos — a experiência de entrega e atendimento é o que decide.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501384"/>
            <a:ext cx="374903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98A2B3"/>
                </a:solidFill>
                <a:latin typeface="Aptos"/>
              </a:rPr>
              <a:t>NPS Preditivo  ·  Tech Challenge Fase 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37392" y="6473952"/>
            <a:ext cx="38404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98A2B3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5943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25C7E5"/>
                </a:solidFill>
                <a:latin typeface="Aptos"/>
              </a:rPr>
              <a:t>PARTE 4 · RECOMENDAÇÕES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6384"/>
            <a:ext cx="1088136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900" b="1" i="0">
                <a:solidFill>
                  <a:srgbClr val="FFFFFF"/>
                </a:solidFill>
                <a:latin typeface="Aptos Display"/>
              </a:rPr>
              <a:t>Três ações operacionais, priorizadas pelo impacto nos dados.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7276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10" b="0" i="0">
                <a:solidFill>
                  <a:srgbClr val="9FB0C6"/>
                </a:solidFill>
                <a:latin typeface="Aptos"/>
              </a:rPr>
              <a:t>Construídas a partir dos achados da EDA — independentes do modelo preditivo (item opcional).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212848"/>
            <a:ext cx="10881360" cy="1207008"/>
          </a:xfrm>
          <a:prstGeom prst="roundRect">
            <a:avLst>
              <a:gd name="adj" fmla="val 5000"/>
            </a:avLst>
          </a:prstGeom>
          <a:solidFill>
            <a:srgbClr val="0D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2395728"/>
            <a:ext cx="457200" cy="457200"/>
          </a:xfrm>
          <a:prstGeom prst="ellipse">
            <a:avLst/>
          </a:prstGeom>
          <a:solidFill>
            <a:srgbClr val="25C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478024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091220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7632" y="2359152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FFFFFF"/>
                </a:solidFill>
                <a:latin typeface="Aptos Display"/>
              </a:rPr>
              <a:t>Eliminar o primeiro dia de atraso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2395728"/>
            <a:ext cx="2651760" cy="256032"/>
          </a:xfrm>
          <a:prstGeom prst="roundRect">
            <a:avLst>
              <a:gd name="adj" fmla="val 50000"/>
            </a:avLst>
          </a:prstGeom>
          <a:solidFill>
            <a:srgbClr val="14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2414016"/>
            <a:ext cx="2651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60" b="1" i="0">
                <a:solidFill>
                  <a:srgbClr val="87E5F2"/>
                </a:solidFill>
                <a:latin typeface="Aptos"/>
              </a:rPr>
              <a:t>PRIORIDADE MÁXIMA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2688336"/>
            <a:ext cx="88239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10" b="0" i="0">
                <a:solidFill>
                  <a:srgbClr val="A6B4C6"/>
                </a:solidFill>
                <a:latin typeface="Aptos"/>
              </a:rPr>
              <a:t>O salto de 0 para 1 dia de atraso já derruba o NPS em 1,3 pontos e aumenta os detratores em 22,3 p.p. Ação: revisar SLA logístico e gargalos da última milha.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566160"/>
            <a:ext cx="10881360" cy="1207008"/>
          </a:xfrm>
          <a:prstGeom prst="roundRect">
            <a:avLst>
              <a:gd name="adj" fmla="val 5000"/>
            </a:avLst>
          </a:prstGeom>
          <a:solidFill>
            <a:srgbClr val="0D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32688" y="3749039"/>
            <a:ext cx="457200" cy="457200"/>
          </a:xfrm>
          <a:prstGeom prst="ellipse">
            <a:avLst/>
          </a:prstGeom>
          <a:solidFill>
            <a:srgbClr val="25C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3831335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091220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27632" y="3712463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FFFFFF"/>
                </a:solidFill>
                <a:latin typeface="Aptos Display"/>
              </a:rPr>
              <a:t>Resolver antes de o cliente reclamar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18120" y="3749039"/>
            <a:ext cx="2651760" cy="256032"/>
          </a:xfrm>
          <a:prstGeom prst="roundRect">
            <a:avLst>
              <a:gd name="adj" fmla="val 50000"/>
            </a:avLst>
          </a:prstGeom>
          <a:solidFill>
            <a:srgbClr val="14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3767328"/>
            <a:ext cx="2651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60" b="1" i="0">
                <a:solidFill>
                  <a:srgbClr val="87E5F2"/>
                </a:solidFill>
                <a:latin typeface="Aptos"/>
              </a:rPr>
              <a:t>PRIORIDADE ALTA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27632" y="4041648"/>
            <a:ext cx="88239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10" b="0" i="0">
                <a:solidFill>
                  <a:srgbClr val="A6B4C6"/>
                </a:solidFill>
                <a:latin typeface="Aptos"/>
              </a:rPr>
              <a:t>Detratores fazem 75,3% mais contatos e 71,0% mais reclamações do que não-detratores. Ação: notificar e agir assim que um atraso é detectado, antes da reclamação.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919472"/>
            <a:ext cx="10881360" cy="1207008"/>
          </a:xfrm>
          <a:prstGeom prst="roundRect">
            <a:avLst>
              <a:gd name="adj" fmla="val 5000"/>
            </a:avLst>
          </a:prstGeom>
          <a:solidFill>
            <a:srgbClr val="0D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5102352"/>
            <a:ext cx="457200" cy="457200"/>
          </a:xfrm>
          <a:prstGeom prst="ellipse">
            <a:avLst/>
          </a:prstGeom>
          <a:solidFill>
            <a:srgbClr val="25C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5184648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091220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27632" y="5065776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FFFFFF"/>
                </a:solidFill>
                <a:latin typeface="Aptos Display"/>
              </a:rPr>
              <a:t>Acompanhar recompra como termômetro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18120" y="5102352"/>
            <a:ext cx="2651760" cy="256032"/>
          </a:xfrm>
          <a:prstGeom prst="roundRect">
            <a:avLst>
              <a:gd name="adj" fmla="val 50000"/>
            </a:avLst>
          </a:prstGeom>
          <a:solidFill>
            <a:srgbClr val="14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18120" y="5120640"/>
            <a:ext cx="2651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60" b="1" i="0">
                <a:solidFill>
                  <a:srgbClr val="87E5F2"/>
                </a:solidFill>
                <a:latin typeface="Aptos"/>
              </a:rPr>
              <a:t>PRIORIDADE CONTÍNUA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27632" y="5394960"/>
            <a:ext cx="88239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10" b="0" i="0">
                <a:solidFill>
                  <a:srgbClr val="A6B4C6"/>
                </a:solidFill>
                <a:latin typeface="Aptos"/>
              </a:rPr>
              <a:t>100% dos promotores recompram em 30 dias; 0% dos detratores recompram. Ação: monitorar recompra e CSAT interno como indicadores antecipados de satisfação.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501384"/>
            <a:ext cx="374903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18399"/>
                </a:solidFill>
                <a:latin typeface="Aptos"/>
              </a:rPr>
              <a:t>NPS Preditivo  ·  Tech Challenge Fase 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37392" y="6473952"/>
            <a:ext cx="38404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18399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5943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25C7E5"/>
                </a:solidFill>
                <a:latin typeface="Aptos"/>
              </a:rPr>
              <a:t>PARTE 5 · LIMITAÇÕES E PRÓXIMOS PASSOS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6384"/>
            <a:ext cx="1088136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900" b="1" i="0">
                <a:solidFill>
                  <a:srgbClr val="111827"/>
                </a:solidFill>
                <a:latin typeface="Aptos Display"/>
              </a:rPr>
              <a:t>O que ainda não podemos afirmar — e o que fazemos a seguir.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7276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10" b="0" i="0">
                <a:solidFill>
                  <a:srgbClr val="667085"/>
                </a:solidFill>
                <a:latin typeface="Aptos"/>
              </a:rPr>
              <a:t>Honestidade sobre os limites da análise antes de qualquer decisão de negócio.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212848"/>
            <a:ext cx="3429000" cy="17830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450591"/>
            <a:ext cx="329184" cy="54864"/>
          </a:xfrm>
          <a:prstGeom prst="roundRect">
            <a:avLst>
              <a:gd name="adj" fmla="val 50000"/>
            </a:avLst>
          </a:prstGeom>
          <a:solidFill>
            <a:srgbClr val="F4B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33472"/>
            <a:ext cx="29169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50" b="1" i="0">
                <a:solidFill>
                  <a:srgbClr val="111827"/>
                </a:solidFill>
                <a:latin typeface="Aptos Display"/>
              </a:rPr>
              <a:t>Correlação não é causalidade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291693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80" b="0" i="0">
                <a:solidFill>
                  <a:srgbClr val="667085"/>
                </a:solidFill>
                <a:latin typeface="Aptos"/>
              </a:rPr>
              <a:t>Atraso, reclamação e nota baixa andam juntos nos dados — mas isso não prova, sozinho, que um causa o outro.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9976" y="2212848"/>
            <a:ext cx="3429000" cy="17830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636008" y="2450591"/>
            <a:ext cx="329184" cy="54864"/>
          </a:xfrm>
          <a:prstGeom prst="roundRect">
            <a:avLst>
              <a:gd name="adj" fmla="val 50000"/>
            </a:avLst>
          </a:prstGeom>
          <a:solidFill>
            <a:srgbClr val="F4B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8" y="2633472"/>
            <a:ext cx="29169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50" b="1" i="0">
                <a:solidFill>
                  <a:srgbClr val="111827"/>
                </a:solidFill>
                <a:latin typeface="Aptos Display"/>
              </a:rPr>
              <a:t>Fotografia histórica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8" y="3108960"/>
            <a:ext cx="291693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80" b="0" i="0">
                <a:solidFill>
                  <a:srgbClr val="667085"/>
                </a:solidFill>
                <a:latin typeface="Aptos"/>
              </a:rPr>
              <a:t>Os dados são de um período fixo e não mostram época do ano, concorrência ou tipo de produto vendido.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4" y="2212848"/>
            <a:ext cx="3429000" cy="17830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357616" y="2450591"/>
            <a:ext cx="329184" cy="54864"/>
          </a:xfrm>
          <a:prstGeom prst="roundRect">
            <a:avLst>
              <a:gd name="adj" fmla="val 50000"/>
            </a:avLst>
          </a:prstGeom>
          <a:solidFill>
            <a:srgbClr val="F4B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7616" y="2633472"/>
            <a:ext cx="29169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50" b="1" i="0">
                <a:solidFill>
                  <a:srgbClr val="111827"/>
                </a:solidFill>
                <a:latin typeface="Aptos Display"/>
              </a:rPr>
              <a:t>Base desbalanceada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7616" y="3108960"/>
            <a:ext cx="291693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80" b="0" i="0">
                <a:solidFill>
                  <a:srgbClr val="667085"/>
                </a:solidFill>
                <a:latin typeface="Aptos"/>
              </a:rPr>
              <a:t>Só 106 pedidos (4,8%) são de promotores — poucos casos para afirmar com certeza total o que os deixa satisfeitos.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224528"/>
            <a:ext cx="10881360" cy="1417320"/>
          </a:xfrm>
          <a:prstGeom prst="roundRect">
            <a:avLst>
              <a:gd name="adj" fmla="val 4500"/>
            </a:avLst>
          </a:prstGeom>
          <a:solidFill>
            <a:srgbClr val="09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443984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40" b="1" i="0">
                <a:solidFill>
                  <a:srgbClr val="25C7E5"/>
                </a:solidFill>
                <a:latin typeface="Aptos"/>
              </a:rPr>
              <a:t>MENSAGEM FINAL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718304"/>
            <a:ext cx="99669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FFFFFF"/>
                </a:solidFill>
                <a:latin typeface="Aptos"/>
              </a:rPr>
              <a:t>De 2.202 pedidos, 1.829 são detratores. A maior alavanca já identificada: </a:t>
            </a:r>
            <a:r>
              <a:rPr sz="1350" b="1" i="0">
                <a:solidFill>
                  <a:srgbClr val="87E5F2"/>
                </a:solidFill>
                <a:latin typeface="Aptos"/>
              </a:rPr>
              <a:t>eliminar o primeiro dia de atraso na entrega.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501384"/>
            <a:ext cx="374903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98A2B3"/>
                </a:solidFill>
                <a:latin typeface="Aptos"/>
              </a:rPr>
              <a:t>NPS Preditivo  ·  Tech Challenge Fase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37392" y="6473952"/>
            <a:ext cx="38404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98A2B3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85800"/>
            <a:ext cx="5943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5C7E5"/>
                </a:solidFill>
                <a:latin typeface="Aptos"/>
              </a:rPr>
              <a:t>OBRIGADO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86868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Aptos Display"/>
              </a:rPr>
              <a:t>Sabemos o que muda o NPS. Agora é decidir o que priorizar.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606040"/>
            <a:ext cx="8961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9FB0C6"/>
                </a:solidFill>
                <a:latin typeface="Aptos"/>
              </a:rPr>
              <a:t>Notebooks, base tratada e este material completo estão no repositório público do projeto.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3429000"/>
            <a:ext cx="10881360" cy="1417320"/>
          </a:xfrm>
          <a:prstGeom prst="roundRect">
            <a:avLst>
              <a:gd name="adj" fmla="val 4500"/>
            </a:avLst>
          </a:prstGeom>
          <a:solidFill>
            <a:srgbClr val="0D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3666744"/>
            <a:ext cx="2743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40" b="1" i="0">
                <a:solidFill>
                  <a:srgbClr val="25C7E5"/>
                </a:solidFill>
                <a:latin typeface="Aptos"/>
              </a:rPr>
              <a:t>REPOSITÓRIO GITHUB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941064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87E5F2"/>
                </a:solidFill>
                <a:latin typeface="Aptos"/>
              </a:rPr>
              <a:t>github.com/Fabio-Costa986/Business-understanding-and-data-analysis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361688"/>
            <a:ext cx="9966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A6B4C6"/>
                </a:solidFill>
                <a:latin typeface="Aptos"/>
              </a:rPr>
              <a:t>Tratamento de dados · EDA completa · slides · vídeo executivo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16636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ptos Display"/>
              </a:rPr>
              <a:t>Perguntas?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67512" y="5989320"/>
            <a:ext cx="10853928" cy="0"/>
          </a:xfrm>
          <a:prstGeom prst="line">
            <a:avLst/>
          </a:prstGeom>
          <a:ln w="9525">
            <a:solidFill>
              <a:srgbClr val="26395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58368" y="6089904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FB0C6"/>
                </a:solidFill>
                <a:latin typeface="Aptos"/>
              </a:rPr>
              <a:t>Amanda Alves de Lima Santos  ·  Fábio da Silva Costa  ·  Gabriel Victor Santos Oliveira  ·  Vanessa Partala  ·  Humberto Henrique Alves Moreira dos Santos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501384"/>
            <a:ext cx="374903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18399"/>
                </a:solidFill>
                <a:latin typeface="Aptos"/>
              </a:rPr>
              <a:t>NPS Preditivo  ·  Tech Challenge Fase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37392" y="6473952"/>
            <a:ext cx="38404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18399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</TotalTime>
  <Words>1046</Words>
  <Application>Microsoft Office PowerPoint</Application>
  <PresentationFormat>Widescreen</PresentationFormat>
  <Paragraphs>159</Paragraphs>
  <Slides>4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1" baseType="lpstr">
      <vt:lpstr>Aptos</vt:lpstr>
      <vt:lpstr>Aptos Display</vt:lpstr>
      <vt:lpstr>Arial</vt:lpstr>
      <vt:lpstr>Symbol</vt:lpstr>
      <vt:lpstr>Times New Roman</vt:lpstr>
      <vt:lpstr>Wingdings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FIAP + Alura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Gabriel Victor</dc:creator>
  <cp:lastModifiedBy>Gabriel Victor</cp:lastModifiedBy>
  <cp:revision>3</cp:revision>
  <dcterms:modified xsi:type="dcterms:W3CDTF">2026-08-26T03:00:17Z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2026-08-26T02:19:34Z</dcterms:created>
  <dc:creator>OpenAI</dc:creator>
  <dc:description/>
  <dc:language>en-US</dc:language>
  <cp:lastModifiedBy>OpenAI</cp:lastModifiedBy>
  <dcterms:modified xsi:type="dcterms:W3CDTF">2026-08-26T02:19:34Z</dcterms:modified>
  <cp:revision>1</cp:revision>
  <dc:subject>Tech Challenge Fase 1 — NPS Preditivo</dc:subject>
  <dc:title>Tech Challenge Fase 1 — Abertura, Contexto, Dados e Preparação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4</vt:r8>
  </property>
  <property fmtid="{D5CDD505-2E9C-101B-9397-08002B2CF9AE}" pid="3" name="PresentationFormat">
    <vt:lpwstr>On-screen Show (16:9)</vt:lpwstr>
  </property>
  <property fmtid="{D5CDD505-2E9C-101B-9397-08002B2CF9AE}" pid="4" name="Slides">
    <vt:r8>4</vt:r8>
  </property>
</Properties>
</file>