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ore0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12192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BF361D-903A-435D-8E80-3520D2AE61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Sugestão de fala: O e-commerce cresceu, mas o dado mais importante para abrir a discussão é que 83,1% da base tratada está na classe detratora. O ponto central é temporal: o NPS só aparece depois da jornada. Por isso, nossa pergunta é quais sinais operacionais permitem agir antes.</a:t>
            </a:r>
          </a:p>
          <a:p>
            <a:pPr indent="0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EDA - versao final.ipynb (base tratada: 1.829 detratores em 2.202 pedidos)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(NPS coletado após a jornada e necessidade de atuação proativa)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https://www.uber.com/br/en/blog/analyzing-customer-user-experience/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DA66F-2389-40C1-BD3A-CF833AAB2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EDA foi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organizada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próprio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Tech Challenge.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intenção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chegar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decisões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onde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está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problema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priorizar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impacto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deixar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terreno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preparado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para uma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etapa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preditiva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EDA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público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não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técnico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(Bloco 04 — EDA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estruturada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pelas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negócio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https://www.mckinsey.com/capabilities/growth-marketing-and-sales/our-insights/customer-journey-analytics-and-big-data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https://careersatdoordash.com/blog/data-scientists-technical-skill-business-impact/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9B31B3-182E-47FB-A524-BD4DD4D78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base original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2.500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valor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cobre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pedido,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logística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atendimento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satisfação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além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perfil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cliente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alvo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o NPS de 0 a 10,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posteriormente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classificado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detrator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neutro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promotor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usando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intervalos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no notebook.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(2.500 registros,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contínua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das classes NPS)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dicionário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base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nps_score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https://careersatdoordash.com/blog/data-at-doordash-transparent-ubiquitous-and-still-just-getting-started/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7FD33-12B6-4CED-8DDE-540029A2ED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Antes da EDA, a base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passou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validações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lógica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Foram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separados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298 registros únicos,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11,9%,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imputação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correção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suposição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base final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ficou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34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originais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15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derivadas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Esse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tratamento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análise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rastreável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esconder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inconsistências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(267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casos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atraso &gt;= tempo total; 35 com desconto &gt; pedido; 298 registros únicos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quarentena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mantidos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shape final 2.202 x 34)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frete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&gt; valor do pedido mantido com flag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ser incomum, mas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logicamente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possível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01E52-FCB6-4ACE-9832-E2AFDE44AB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CONTEXTO DO PROBLEMA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crescimento não é o problema. Descobrir a insatisfação tarde demais é.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O NPS chega no fim da jornada. A análise busca identificar sinais operacionais antes desse momento.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58440" y="2331720"/>
            <a:ext cx="23313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9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83,1%</a:t>
            </a:r>
            <a:endParaRPr lang="pt-BR" sz="4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218760"/>
            <a:ext cx="242280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dos pedidos da base tratada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são detratores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393192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4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1.829 de 2.202 pedidos analisados</a:t>
            </a:r>
            <a:endParaRPr lang="pt-BR" sz="10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85800" y="4297680"/>
            <a:ext cx="1535760" cy="292320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 w="12600">
            <a:solidFill>
              <a:srgbClr val="331A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58880" y="4316040"/>
            <a:ext cx="13896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problema dominante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29440" y="2249280"/>
            <a:ext cx="7991640" cy="2002320"/>
          </a:xfrm>
          <a:prstGeom prst="roundRect">
            <a:avLst>
              <a:gd name="adj" fmla="val 3653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822120" y="2523600"/>
            <a:ext cx="2057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spc="125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PERGUNTA NORTEADORA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822120" y="2853000"/>
            <a:ext cx="705888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Por que alguns clientes se tornam promotores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enquanto outros viram detratores?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822120" y="3694320"/>
            <a:ext cx="6309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2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E como antecipar o risco antes de o NPS ser medido?</a:t>
            </a:r>
            <a:endParaRPr lang="pt-BR" sz="14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3529440" y="47365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3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A JORNADA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3767040" y="5440680"/>
            <a:ext cx="6903720" cy="360"/>
          </a:xfrm>
          <a:prstGeom prst="line">
            <a:avLst/>
          </a:prstGeom>
          <a:ln w="2556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37947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3922920" y="5349240"/>
            <a:ext cx="182520" cy="155160"/>
          </a:xfrm>
          <a:prstGeom prst="rect">
            <a:avLst/>
          </a:prstGeom>
          <a:noFill/>
          <a:ln w="1764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3949920" y="5394960"/>
            <a:ext cx="128160" cy="360"/>
          </a:xfrm>
          <a:prstGeom prst="line">
            <a:avLst/>
          </a:prstGeom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36302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348372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57423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 flipV="1">
            <a:off x="5861160" y="5376600"/>
            <a:ext cx="201240" cy="118800"/>
          </a:xfrm>
          <a:prstGeom prst="line">
            <a:avLst/>
          </a:prstGeom>
          <a:ln w="20160">
            <a:solidFill>
              <a:srgbClr val="87E5F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5852160" y="5486400"/>
            <a:ext cx="45360" cy="45360"/>
          </a:xfrm>
          <a:prstGeom prst="ellipse">
            <a:avLst/>
          </a:prstGeom>
          <a:solidFill>
            <a:srgbClr val="87E5F2"/>
          </a:solidFill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55778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Entrega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4316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prazo · atraso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76899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7799760" y="534024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6"/>
          <p:cNvSpPr/>
          <p:nvPr/>
        </p:nvSpPr>
        <p:spPr>
          <a:xfrm flipH="1">
            <a:off x="7818120" y="5495400"/>
            <a:ext cx="36360" cy="54720"/>
          </a:xfrm>
          <a:prstGeom prst="line">
            <a:avLst/>
          </a:prstGeom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5254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73792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contatos · reclamações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963792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0"/>
          <p:cNvSpPr/>
          <p:nvPr/>
        </p:nvSpPr>
        <p:spPr>
          <a:xfrm>
            <a:off x="9692640" y="5266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1"/>
          <p:cNvSpPr/>
          <p:nvPr/>
        </p:nvSpPr>
        <p:spPr>
          <a:xfrm>
            <a:off x="94730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NPS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93268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medido depois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9875520" y="4928400"/>
            <a:ext cx="360" cy="219600"/>
          </a:xfrm>
          <a:prstGeom prst="line">
            <a:avLst/>
          </a:prstGeom>
          <a:ln w="2556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162360" y="4663440"/>
            <a:ext cx="1874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janela de ação já passou</a:t>
            </a:r>
            <a:endParaRPr lang="pt-BR" sz="9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O QUE ESTAMOS RESPONDENDO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Quatro decisões de negócio estruturam toda a análise.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Em vez de começar pela técnica, começamos pelas perguntas que uma liderança precisa responder.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51560" y="2331720"/>
            <a:ext cx="360" cy="360"/>
          </a:xfrm>
          <a:prstGeom prst="line">
            <a:avLst/>
          </a:prstGeom>
          <a:ln w="1908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1078920" y="2267640"/>
            <a:ext cx="360" cy="3063240"/>
          </a:xfrm>
          <a:prstGeom prst="line">
            <a:avLst/>
          </a:prstGeom>
          <a:ln w="19080">
            <a:solidFill>
              <a:srgbClr val="C7D0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31960" y="2203560"/>
            <a:ext cx="493560" cy="493560"/>
          </a:xfrm>
          <a:prstGeom prst="ellipse">
            <a:avLst/>
          </a:prstGeom>
          <a:solidFill>
            <a:srgbClr val="25C7E5"/>
          </a:solidFill>
          <a:ln w="1656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831960" y="22950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091220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572840" y="212148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Quais fatores são críticos para a satisfação?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572840" y="248724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Onde a experiência realmente ganha ou perde valor.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31960" y="303588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31960" y="312732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572840" y="295344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 que mais gera detratores?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572840" y="331920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Quais sinais operacionais merecem prioridade.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31960" y="386784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831960" y="395928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572840" y="378576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Existe um ponto de ruptura?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572840" y="415152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Quando a experiência passa de risco para zona crítica.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831960" y="470016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831960" y="47916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572840" y="461772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Que experiência tende a NPS alto?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572840" y="498348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 que diferencia promotores de detratores.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7699320" y="2157840"/>
            <a:ext cx="3794400" cy="3364560"/>
          </a:xfrm>
          <a:prstGeom prst="roundRect">
            <a:avLst>
              <a:gd name="adj" fmla="val 1630"/>
            </a:avLst>
          </a:prstGeom>
          <a:solidFill>
            <a:srgbClr val="091220"/>
          </a:solidFill>
          <a:ln w="12600">
            <a:solidFill>
              <a:srgbClr val="09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8010000" y="2487240"/>
            <a:ext cx="3017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ESSAS RESPOSTAS HABILITAM</a:t>
            </a:r>
            <a:endParaRPr lang="pt-BR" sz="939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010000" y="29444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430840" y="292608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Detectar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9528120" y="293508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onde a jornada começa a deteriorar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8010000" y="344700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8010000" y="369432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8430840" y="367596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Priorizar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9528120" y="368496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ações com maior impacto operacional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0"/>
          <p:cNvSpPr/>
          <p:nvPr/>
        </p:nvSpPr>
        <p:spPr>
          <a:xfrm>
            <a:off x="8010000" y="419688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8010000" y="44438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8430840" y="442584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Preparar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3"/>
          <p:cNvSpPr/>
          <p:nvPr/>
        </p:nvSpPr>
        <p:spPr>
          <a:xfrm>
            <a:off x="9528120" y="443484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 futura modelagem preditiva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8010000" y="5148000"/>
            <a:ext cx="28159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A lógica é simples: pergunta → evidência → decisão.</a:t>
            </a:r>
            <a:endParaRPr lang="pt-BR" sz="10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DADOS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 base acompanha a experiência ponta a ponta — do pedido à satisfação.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2.500 pedidos e 19 variáveis originais, com cobertura completa na base bruta.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584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4F7DF3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6584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pedidos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207540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228600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5C7E5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228600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variáveis originais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370332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02336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402336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valores ausentes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544068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56876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56876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duplicidades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7571160" y="2304360"/>
            <a:ext cx="2331360" cy="292320"/>
          </a:xfrm>
          <a:prstGeom prst="roundRect">
            <a:avLst>
              <a:gd name="adj" fmla="val 50000"/>
            </a:avLst>
          </a:prstGeom>
          <a:solidFill>
            <a:srgbClr val="EDF2FF"/>
          </a:solidFill>
          <a:ln w="12600">
            <a:solidFill>
              <a:srgbClr val="EDF2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7644240" y="2322720"/>
            <a:ext cx="21852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4F7DF3"/>
                </a:solidFill>
                <a:effectLst/>
                <a:uFillTx/>
                <a:latin typeface="Aptos"/>
                <a:ea typeface="Aptos"/>
              </a:rPr>
              <a:t>unidade de análise: pedido</a:t>
            </a:r>
            <a:endParaRPr lang="pt-BR" sz="9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960120" y="3721320"/>
            <a:ext cx="9857160" cy="360"/>
          </a:xfrm>
          <a:prstGeom prst="line">
            <a:avLst/>
          </a:prstGeom>
          <a:ln w="28080">
            <a:solidFill>
              <a:srgbClr val="D6DE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046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932760" y="3630240"/>
            <a:ext cx="182520" cy="155160"/>
          </a:xfrm>
          <a:prstGeom prst="rect">
            <a:avLst/>
          </a:prstGeom>
          <a:noFill/>
          <a:ln w="1764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0120" y="3675600"/>
            <a:ext cx="127800" cy="360"/>
          </a:xfrm>
          <a:prstGeom prst="line">
            <a:avLst/>
          </a:prstGeom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6217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40248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desconto · parcelas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3102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3"/>
          <p:cNvSpPr/>
          <p:nvPr/>
        </p:nvSpPr>
        <p:spPr>
          <a:xfrm flipV="1">
            <a:off x="3429000" y="3657600"/>
            <a:ext cx="200880" cy="118800"/>
          </a:xfrm>
          <a:prstGeom prst="line">
            <a:avLst/>
          </a:prstGeom>
          <a:ln w="201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420000" y="3767400"/>
            <a:ext cx="45360" cy="45360"/>
          </a:xfrm>
          <a:prstGeom prst="ellipse">
            <a:avLst/>
          </a:prstGeom>
          <a:solidFill>
            <a:srgbClr val="25C7E5"/>
          </a:solidFill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1273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LOGÍSTICA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"/>
          <p:cNvSpPr/>
          <p:nvPr/>
        </p:nvSpPr>
        <p:spPr>
          <a:xfrm>
            <a:off x="29077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tempo · atraso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tentativas · frete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7"/>
          <p:cNvSpPr/>
          <p:nvPr/>
        </p:nvSpPr>
        <p:spPr>
          <a:xfrm>
            <a:off x="58154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5925240" y="362088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9"/>
          <p:cNvSpPr/>
          <p:nvPr/>
        </p:nvSpPr>
        <p:spPr>
          <a:xfrm flipH="1">
            <a:off x="5943600" y="3776400"/>
            <a:ext cx="36360" cy="54720"/>
          </a:xfrm>
          <a:prstGeom prst="line">
            <a:avLst/>
          </a:prstGeom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6325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54133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contatos · resolução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reclamações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83210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8375760" y="3547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81381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SATISFAÇÃO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91856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NPS · CSAT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recompra 30d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749880" y="5111640"/>
            <a:ext cx="48916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3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+ perfil do cliente: idade · região · tempo de relacionamento</a:t>
            </a:r>
            <a:endParaRPr lang="pt-BR" sz="10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784920" y="5056560"/>
            <a:ext cx="7128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spc="99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TARGET</a:t>
            </a:r>
            <a:endParaRPr lang="pt-BR" sz="9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7571160" y="5029200"/>
            <a:ext cx="1325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60" b="1" u="none" strike="noStrike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NPS SCORE 0–10</a:t>
            </a:r>
            <a:endParaRPr lang="pt-BR" sz="11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784920" y="5504760"/>
            <a:ext cx="1554120" cy="621360"/>
          </a:xfrm>
          <a:prstGeom prst="roundRect">
            <a:avLst>
              <a:gd name="adj" fmla="val 7353"/>
            </a:avLst>
          </a:prstGeom>
          <a:solidFill>
            <a:srgbClr val="FDECEE"/>
          </a:solidFill>
          <a:ln w="1260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894720" y="5596200"/>
            <a:ext cx="133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Detrator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6894720" y="5833800"/>
            <a:ext cx="1334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≤ 6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2"/>
          <p:cNvSpPr/>
          <p:nvPr/>
        </p:nvSpPr>
        <p:spPr>
          <a:xfrm>
            <a:off x="8412480" y="5504760"/>
            <a:ext cx="1352880" cy="621360"/>
          </a:xfrm>
          <a:prstGeom prst="roundRect">
            <a:avLst>
              <a:gd name="adj" fmla="val 7353"/>
            </a:avLst>
          </a:prstGeom>
          <a:solidFill>
            <a:srgbClr val="FFF5DF"/>
          </a:solidFill>
          <a:ln w="12600">
            <a:solidFill>
              <a:srgbClr val="F4B6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8522280" y="5596200"/>
            <a:ext cx="1133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F4B64A"/>
                </a:solidFill>
                <a:effectLst/>
                <a:uFillTx/>
                <a:latin typeface="Aptos"/>
                <a:ea typeface="Aptos"/>
              </a:rPr>
              <a:t>Neutro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8522280" y="5833800"/>
            <a:ext cx="1133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6 a ≤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9838800" y="5504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9F7F1"/>
          </a:solidFill>
          <a:ln w="12600">
            <a:solidFill>
              <a:srgbClr val="27A7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9948600" y="5596200"/>
            <a:ext cx="1243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27A77A"/>
                </a:solidFill>
                <a:effectLst/>
                <a:uFillTx/>
                <a:latin typeface="Aptos"/>
                <a:ea typeface="Aptos"/>
              </a:rPr>
              <a:t>Promotor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9948600" y="583380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QUALIDADE &amp; PREPARAÇÃO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58440" y="786240"/>
            <a:ext cx="10881000" cy="84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11,9% da base foi isolada para auditoria, garantindo uma análise baseada apenas em dados consistentes e rastreáveis.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A decisão preserva rastreabilidade: a EDA usa 2.202 pedidos e mantém os casos críticos separados para auditoria.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58440" y="22129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3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TRATAMENTO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658440" y="2541960"/>
            <a:ext cx="13255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58440" y="3054240"/>
            <a:ext cx="1416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base original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21256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502080" y="254196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298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502080" y="3054240"/>
            <a:ext cx="1142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quarentena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02080" y="328284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11,9%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477288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6062400" y="254196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2.202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062400" y="3054240"/>
            <a:ext cx="1325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9E4CF"/>
                </a:solidFill>
                <a:effectLst/>
                <a:uFillTx/>
                <a:latin typeface="Aptos"/>
                <a:ea typeface="Aptos"/>
              </a:rPr>
              <a:t>base da EDA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062400" y="32828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88,1% preservados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58080" y="3858480"/>
            <a:ext cx="674856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58080" y="4018686"/>
            <a:ext cx="2157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LEVOU À QUARENTENA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658080" y="5080839"/>
            <a:ext cx="429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298 registros únicos violavam ao menos uma das duas regras.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627785" y="539496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Frete &gt; pedido foi sinalizado, mas mantido: é incomum, não impossível.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7900560" y="2212920"/>
            <a:ext cx="3611520" cy="3456000"/>
          </a:xfrm>
          <a:prstGeom prst="roundRect">
            <a:avLst>
              <a:gd name="adj" fmla="val 1587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192880" y="2505600"/>
            <a:ext cx="1416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spc="11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BASE ANALÍTICA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8192880" y="2843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34</a:t>
            </a:r>
            <a:endParaRPr lang="pt-BR" sz="30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8979480" y="292608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40" b="1" u="none" strike="noStrike" noProof="0" dirty="0">
                <a:solidFill>
                  <a:srgbClr val="B9C5D5"/>
                </a:solidFill>
                <a:effectLst/>
                <a:uFillTx/>
                <a:latin typeface="Aptos"/>
                <a:ea typeface="Aptos"/>
              </a:rPr>
              <a:t>colunas finais</a:t>
            </a:r>
            <a:endParaRPr lang="pt-BR" sz="11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8192880" y="340164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19 originais  +  15 derivadas</a:t>
            </a:r>
            <a:endParaRPr lang="pt-BR" sz="11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8192880" y="3822120"/>
            <a:ext cx="270648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8192880" y="4041720"/>
            <a:ext cx="26514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As derivadas transformam dados brutos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em variáveis mais úteis para o negócio: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8192880" y="45993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indicadores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9034200" y="45993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· contato · reclamação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8192880" y="49467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faixas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2"/>
          <p:cNvSpPr/>
          <p:nvPr/>
        </p:nvSpPr>
        <p:spPr>
          <a:xfrm>
            <a:off x="9034200" y="49467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idade · tenure · valor · entrega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8192880" y="529452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proporções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9034200" y="529452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relativo · desconto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7900560" y="5833800"/>
            <a:ext cx="3611520" cy="45684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 w="12600">
            <a:solidFill>
              <a:srgbClr val="1E566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8119800" y="5943600"/>
            <a:ext cx="3145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Princípio: preservar o original e auditar exceções.</a:t>
            </a:r>
            <a:endParaRPr lang="pt-BR" sz="9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78A18277-282A-E59D-BA0A-6F4276DA6D75}"/>
              </a:ext>
            </a:extLst>
          </p:cNvPr>
          <p:cNvSpPr/>
          <p:nvPr/>
        </p:nvSpPr>
        <p:spPr>
          <a:xfrm>
            <a:off x="662145" y="4375440"/>
            <a:ext cx="6944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267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64D5BF3-8912-543C-83CD-02B2D9734DBD}"/>
              </a:ext>
            </a:extLst>
          </p:cNvPr>
          <p:cNvSpPr/>
          <p:nvPr/>
        </p:nvSpPr>
        <p:spPr>
          <a:xfrm>
            <a:off x="662145" y="4731840"/>
            <a:ext cx="1700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≥ tempo total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869558F8-0996-79A9-4F3C-3B834636C712}"/>
              </a:ext>
            </a:extLst>
          </p:cNvPr>
          <p:cNvSpPr/>
          <p:nvPr/>
        </p:nvSpPr>
        <p:spPr>
          <a:xfrm>
            <a:off x="2369498" y="4375440"/>
            <a:ext cx="566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31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79B19BCD-6425-7C3D-7239-42F76F94ACAC}"/>
              </a:ext>
            </a:extLst>
          </p:cNvPr>
          <p:cNvSpPr/>
          <p:nvPr/>
        </p:nvSpPr>
        <p:spPr>
          <a:xfrm>
            <a:off x="2333483" y="4709520"/>
            <a:ext cx="1481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desconto &gt; pedido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686906F5-56A5-BE06-CA84-1881B0621128}"/>
              </a:ext>
            </a:extLst>
          </p:cNvPr>
          <p:cNvSpPr/>
          <p:nvPr/>
        </p:nvSpPr>
        <p:spPr>
          <a:xfrm>
            <a:off x="3785580" y="4353120"/>
            <a:ext cx="420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4B64A"/>
                </a:solidFill>
                <a:effectLst/>
                <a:uFillTx/>
                <a:latin typeface="Aptos Display"/>
                <a:ea typeface="Aptos Display"/>
              </a:rPr>
              <a:t>4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4101EB52-ED65-6184-B184-A4AFB263ACF7}"/>
              </a:ext>
            </a:extLst>
          </p:cNvPr>
          <p:cNvSpPr/>
          <p:nvPr/>
        </p:nvSpPr>
        <p:spPr>
          <a:xfrm>
            <a:off x="3785580" y="4709520"/>
            <a:ext cx="1572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violam as duas regras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O QUE OS DADOS MOSTRAM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Quatro em cada cinco pedidos terminam com um cliente insatisfeito.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Distribuição do NPS entre os 2.202 pedidos analisados após o tratamento da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>
                <a:solidFill>
                  <a:srgbClr val="EE5A62"/>
                </a:solidFill>
                <a:latin typeface="Aptos Display"/>
              </a:rPr>
              <a:t>83,1%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18688"/>
            <a:ext cx="2423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20" b="1" i="0">
                <a:solidFill>
                  <a:srgbClr val="FFFFFF"/>
                </a:solidFill>
                <a:latin typeface="Aptos"/>
              </a:rPr>
              <a:t>são detratores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0" i="0">
                <a:solidFill>
                  <a:srgbClr val="9FB0C6"/>
                </a:solidFill>
                <a:latin typeface="Aptos"/>
              </a:rPr>
              <a:t>1.829 de 2.202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1600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maioria absoluta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212848"/>
            <a:ext cx="7991856" cy="3611880"/>
          </a:xfrm>
          <a:prstGeom prst="roundRect">
            <a:avLst>
              <a:gd name="adj" fmla="val 3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24871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 i="0">
                <a:solidFill>
                  <a:srgbClr val="25C7E5"/>
                </a:solidFill>
                <a:latin typeface="Aptos"/>
              </a:rPr>
              <a:t>DISTRIBUIÇÃO COMPLETA</a:t>
            </a:r>
          </a:p>
        </p:txBody>
      </p:sp>
      <p:sp>
        <p:nvSpPr>
          <p:cNvPr id="12" name="Oval 11"/>
          <p:cNvSpPr/>
          <p:nvPr/>
        </p:nvSpPr>
        <p:spPr>
          <a:xfrm>
            <a:off x="3822191" y="2990087"/>
            <a:ext cx="118872" cy="118872"/>
          </a:xfrm>
          <a:prstGeom prst="ellipse">
            <a:avLst/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59935" y="2916936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Detrator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91693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1.829 pedidos · 83,1%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3273551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22191" y="3273551"/>
            <a:ext cx="6154917" cy="128016"/>
          </a:xfrm>
          <a:prstGeom prst="roundRect">
            <a:avLst>
              <a:gd name="adj" fmla="val 50000"/>
            </a:avLst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22191" y="3776472"/>
            <a:ext cx="118872" cy="118872"/>
          </a:xfrm>
          <a:prstGeom prst="ellipse">
            <a:avLst/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5" y="370332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Neutro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70332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267 pedidos · 12,1%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059936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22191" y="4059936"/>
            <a:ext cx="896203" cy="128016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2191" y="4562856"/>
            <a:ext cx="118872" cy="118872"/>
          </a:xfrm>
          <a:prstGeom prst="ellipse">
            <a:avLst/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9935" y="448970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Promotor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448970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106 pedidos · 4,8%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4846320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1" y="4846320"/>
            <a:ext cx="355518" cy="128016"/>
          </a:xfrm>
          <a:prstGeom prst="roundRect">
            <a:avLst>
              <a:gd name="adj" fmla="val 50000"/>
            </a:avLst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822191" y="5349240"/>
            <a:ext cx="7406641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22191" y="548640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87E5F2"/>
                </a:solidFill>
                <a:latin typeface="Aptos"/>
              </a:rPr>
              <a:t>NPS médio: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4,55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mediana: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4,60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escala 0–10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FATORES CRÍTICOS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Entrega no prazo é o fator com maior peso no NPS.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Correlação de cada variável operacional com o NPS Score, sobre os 2.202 pedidos tratados.</a:t>
            </a:r>
          </a:p>
        </p:txBody>
      </p:sp>
      <p:sp>
        <p:nvSpPr>
          <p:cNvPr id="5" name="Oval 4"/>
          <p:cNvSpPr/>
          <p:nvPr/>
        </p:nvSpPr>
        <p:spPr>
          <a:xfrm>
            <a:off x="832104" y="2039112"/>
            <a:ext cx="493776" cy="493776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0552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121408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Atraso na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487168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− 0,578 · quanto maior o atraso, menor o NPS</a:t>
            </a:r>
          </a:p>
        </p:txBody>
      </p:sp>
      <p:sp>
        <p:nvSpPr>
          <p:cNvPr id="9" name="Oval 8"/>
          <p:cNvSpPr/>
          <p:nvPr/>
        </p:nvSpPr>
        <p:spPr>
          <a:xfrm>
            <a:off x="832104" y="2871216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962656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953512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Recompra em 30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319272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+ 0,578 · cliente satisfeito volta a comprar</a:t>
            </a:r>
          </a:p>
        </p:txBody>
      </p:sp>
      <p:sp>
        <p:nvSpPr>
          <p:cNvPr id="13" name="Oval 12"/>
          <p:cNvSpPr/>
          <p:nvPr/>
        </p:nvSpPr>
        <p:spPr>
          <a:xfrm>
            <a:off x="832104" y="3703320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794759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785615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CSAT interno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151376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+ 0,548 · a métrica interna confirma o NPS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" y="4535424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4626864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17720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983480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− 0,507 · mais reclamações, nota mais baixa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2157984"/>
            <a:ext cx="3794760" cy="3364992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0144" y="248716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DETRATOR VS. NÃO-DETRATOR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94436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+144,6%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29992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dias de atraso na entrega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10144" y="3474720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0144" y="36576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+75,3%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3712463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contatos com atendimento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10144" y="4187952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10144" y="437083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+71,0%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442569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reclamações registradas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49194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90" b="1" i="0">
                <a:solidFill>
                  <a:srgbClr val="87E5F2"/>
                </a:solidFill>
                <a:latin typeface="Aptos"/>
              </a:rPr>
              <a:t>Fatores demográficos (idade, região, tempo de casa) têm impacto mínimo no NPS.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PONTO DE RUPTURA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Basta 1 dia de atraso para o NPS despencar.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NPS médio e proporção de detratores por dias de atraso na entrega (2.202 pedidos).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0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87E5F2"/>
                </a:solidFill>
                <a:latin typeface="Aptos Display"/>
              </a:rPr>
              <a:t>6,85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51,8% detratores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ainda aceitável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39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29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1 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4B64A"/>
                </a:solidFill>
                <a:latin typeface="Aptos Display"/>
              </a:rPr>
              <a:t>5,55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74,1% detratores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zona crítica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778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875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2 DIAS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8B4C"/>
                </a:solidFill>
                <a:latin typeface="Aptos Display"/>
              </a:rPr>
              <a:t>4,57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87,9% detratores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875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deteriora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924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021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3+ DIAS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E5A62"/>
                </a:solidFill>
                <a:latin typeface="Aptos Display"/>
              </a:rPr>
              <a:t>&lt; 3,50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&gt; 95% detratores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quase perdido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3840480"/>
            <a:ext cx="10863072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8368" y="40690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−1,3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pontos de NPS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337560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+22,3 p.p.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mais detratores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3212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06440" y="4251960"/>
            <a:ext cx="5486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Não existe “atraso aceitável” na percepção do cliente —</a:t>
            </a:r>
          </a:p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87E5F2"/>
                </a:solidFill>
                <a:latin typeface="Aptos"/>
              </a:rPr>
              <a:t>o salto de 0 para 1 dia já é o maior choque de satisfação da jornada.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QUEM SÃO ESSES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A diferença entre promotor e detrator é operacional, não demográfica.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Comportamento médio dos 106 promotores e dos 1.829 detratores da base tratada.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3327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7A77A"/>
                </a:solidFill>
                <a:latin typeface="Aptos"/>
              </a:rPr>
              <a:t>PROMOTOR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4,8% da base · 106 pedidos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3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E5A62"/>
                </a:solidFill>
                <a:latin typeface="Aptos"/>
              </a:rPr>
              <a:t>DETRATOR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3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83,1% da base · 1.829 pedidos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3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6647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2,3 dias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3621024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64223" y="3621024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2,3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7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4,4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133088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64223" y="4133088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1,6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9264" y="4645152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64223" y="4645152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6,1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3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7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9264" y="5157216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64223" y="5157216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69264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3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08075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 i="0">
                <a:solidFill>
                  <a:srgbClr val="667085"/>
                </a:solidFill>
                <a:latin typeface="Aptos"/>
              </a:rPr>
              <a:t>Idade, região e tempo de relacionamento variam pouco entre os grupos — a experiência de entrega e atendimento é o que decide.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Três ações operacionais, priorizadas pelo impacto nos dados.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Construídas a partir dos achados da EDA — independentes do modelo preditivo (item opcional).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2395728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78024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5915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Eliminar o primeiro dia de atraso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39572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14016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MÁXIMA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688336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O salto de 0 para 1 dia de atraso já derruba o NPS em 1,3 pontos e aumenta os detratores em 22,3 p.p. Ação: revisar SLA logístico e gargalos da última milha.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749039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831335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712463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Resolver antes de o cliente reclamar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49039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7673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41648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Detratores fazem 75,3% mais contatos e 71,0% mais reclamações do que não-detratores. Ação: notificar e agir assim que um atraso é detectado, antes da reclamação.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9472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5102352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506577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Acompanhar recompra como termômetro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5102352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5120640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CONTÍNUA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394960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100% dos promotores recompram em 30 dias; 0% dos detratores recompram. Ação: monitorar recompra e CSAT interno como indicadores antecipados de satisfação.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5 · LIMITAÇÕES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O que ainda não podemos afirmar — e o que fazemos a seguir.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Honestidade sobre os limites da análise antes de qualquer decisão de negócio.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Correlação não é causalidade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o padrão atraso → reclamação → detrator é consistente nos dados, mas não foi testado em um experimento controlado.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Fotografia histórica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os dados não incorporam sazonalidade, concorrência ou tipo de produto vendido.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Base desbalanceada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83,1% dos pedidos são detratores, o que exige cautela ao validar conclusões sobre a minoria de promotores.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8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MENSAGEM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1830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De 2.202 pedidos, 1.829 são detratores. A maior alavanca já identificada: </a:t>
            </a:r>
            <a:r>
              <a:rPr sz="1350" b="1" i="0">
                <a:solidFill>
                  <a:srgbClr val="87E5F2"/>
                </a:solidFill>
                <a:latin typeface="Aptos"/>
              </a:rPr>
              <a:t>eliminar o primeiro dia de atraso na entrega.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1046</Words>
  <Application>Microsoft Office PowerPoint</Application>
  <PresentationFormat>Widescreen</PresentationFormat>
  <Paragraphs>159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+ Alura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 Victor</dc:creator>
  <cp:lastModifiedBy>Gabriel Victor</cp:lastModifiedBy>
  <cp:revision>3</cp:revision>
  <dcterms:modified xsi:type="dcterms:W3CDTF">2026-08-26T03:00:17Z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2026-08-26T02:19:34Z</dcterms:created>
  <dc:creator>OpenAI</dc:creator>
  <dc:description/>
  <dc:language>en-US</dc:language>
  <cp:lastModifiedBy>OpenAI</cp:lastModifiedBy>
  <dcterms:modified xsi:type="dcterms:W3CDTF">2026-08-26T02:19:34Z</dcterms:modified>
  <cp:revision>1</cp:revision>
  <dc:subject>Tech Challenge Fase 1 — NPS Preditivo</dc:subject>
  <dc:title>Tech Challenge Fase 1 — Abertura, Contexto, Dados e Preparação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